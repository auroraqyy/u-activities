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471" r:id="rId2"/>
    <p:sldId id="500" r:id="rId3"/>
    <p:sldId id="501" r:id="rId4"/>
    <p:sldId id="506" r:id="rId5"/>
    <p:sldId id="507" r:id="rId6"/>
    <p:sldId id="503" r:id="rId7"/>
    <p:sldId id="504" r:id="rId8"/>
    <p:sldId id="508" r:id="rId9"/>
    <p:sldId id="505" r:id="rId10"/>
    <p:sldId id="47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44F75-8C87-4990-B862-331C3CF4F66A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BD753-DFDE-4E8B-AF8E-F00518C3BE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975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5EEA95-15FA-454A-B750-D2F7A7125CA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5EEA95-15FA-454A-B750-D2F7A7125CA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5EEA95-15FA-454A-B750-D2F7A7125CA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5EEA95-15FA-454A-B750-D2F7A7125CAF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5EEA95-15FA-454A-B750-D2F7A7125CAF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E3470-96D6-66F4-89BD-F119844C3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A83674-6B72-A2F8-E8CE-42C4ECC5A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A0A323-6D26-312A-9439-24ED65765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788ECD-83C0-AFF5-810B-3C41F46CA1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5EEA95-15FA-454A-B750-D2F7A7125CA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926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5EEA95-15FA-454A-B750-D2F7A7125CAF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5EEA95-15FA-454A-B750-D2F7A7125CAF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578EFC-A160-DB85-EDF0-90D3F4633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A7CCC0-3525-ED1D-E4C4-252595C86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56677B-8036-00C7-C669-37955E14E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ED75-1AB9-471E-AEEC-5CDE65244D41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9A59B4-1FEF-4F40-61B0-723C46BD0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B06127-FC92-B1D5-CDB8-FF83F37EB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9CB4-F68F-4E1A-A1E6-8C9D000CA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324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E935A-89C2-8914-0DD2-FAA402EE2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5B45B-F0EF-C003-CB0F-9E5FD24A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5FDF61-8D88-6EE3-04F3-07EE15736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ED75-1AB9-471E-AEEC-5CDE65244D41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2527FA-3748-BF31-FF78-5EEC4A9B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A5B87D-87D4-F840-65D8-1FA51D63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9CB4-F68F-4E1A-A1E6-8C9D000CA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545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AF977-04DF-F9C7-3124-3EDEF015A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1B2D1D-3EDF-B4AD-763C-E07FCC91B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E270AA-3A48-41D3-718D-B874C7E3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ED75-1AB9-471E-AEEC-5CDE65244D41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2B9CAF-2E13-1D23-9563-20912603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29C7AC-D140-1EE5-8C06-0EA77DC9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9CB4-F68F-4E1A-A1E6-8C9D000CA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337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C7BB88-AD8B-7164-8555-46B969774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55FEA9-A453-EB6C-F621-16D4A91ABA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7AA6FB-C952-8A71-456E-4E8A7A0D6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C01C13-75D8-5332-E243-DF188A4C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ED75-1AB9-471E-AEEC-5CDE65244D41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1B6530-75B3-E947-210E-92F2005F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C4B9AF-1FFF-020C-AC07-9A36CD49E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9CB4-F68F-4E1A-A1E6-8C9D000CA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00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03991-52A7-9666-A9FD-1CF200F46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DA01FF-F8C2-BBEE-D0BC-3F1FA0332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55B36B-7FAC-F279-0A43-31C821F0A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5FA31F-7DCE-3C8B-2BC7-1019F49E77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E67F34-37BD-0F48-DBB8-5DD03A313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67CEF1-2C17-6335-D758-85CA92ABD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ED75-1AB9-471E-AEEC-5CDE65244D41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7515BF7-A06C-B829-0194-66CE686EE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42FE90-7E74-0776-5B98-9222EBC2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9CB4-F68F-4E1A-A1E6-8C9D000CA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96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1B12C-3753-67AC-A03A-CDA722B25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02C921-5D2F-EA29-C730-5607B96C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ED75-1AB9-471E-AEEC-5CDE65244D41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9D4F2B-0E3D-985D-8157-FA2AEE521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58CF81-96F8-61D5-A733-08A11EC3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9CB4-F68F-4E1A-A1E6-8C9D000CA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894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AB3F7E-F660-5263-F379-D11F1E722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ED75-1AB9-471E-AEEC-5CDE65244D41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5D9C811-D0E9-F937-FCD4-3C19CAE4D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605037-9E3A-E79C-A783-6B6B0D13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9CB4-F68F-4E1A-A1E6-8C9D000CA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036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3156B-4666-E4B0-7A75-61F8AFABB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E2C22A-83E8-FD03-DB63-6B6AC7B1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91EAB0-13E5-EDB8-FFFA-DE4AA9303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30B86B-8B29-99FB-85B0-B5D49DFD7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ED75-1AB9-471E-AEEC-5CDE65244D41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4FCD4C-4153-F2A6-5A39-13936F8A3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7E3715-FC56-69D8-BEF3-1314F2F32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9CB4-F68F-4E1A-A1E6-8C9D000CA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081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4554A-EDEA-C07B-D1CB-47E7BB6A0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12AA263-40E7-04E1-F7EA-6CB52675B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2E8A61-8CAC-B77A-BB8D-628269B15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D77215-1999-A41E-36D5-9A0683538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ED75-1AB9-471E-AEEC-5CDE65244D41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43A5E8-AF1E-DA26-2835-604FCB3BD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999828-5389-C3A0-07BF-697028EA3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9CB4-F68F-4E1A-A1E6-8C9D000CA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48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FF112-6B61-81A0-CA84-4C0F20A5D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863317-FFC2-2338-32EA-27B8DC6C1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BDDD2E-0CAB-5882-61C9-F389B685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ED75-1AB9-471E-AEEC-5CDE65244D41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A533B0-5062-2DD1-545F-4230F8782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A3E151-32BB-8DD3-FD69-B439152E6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9CB4-F68F-4E1A-A1E6-8C9D000CA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59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AC0604-5372-E990-69E5-0C8AD9BF65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E6613A-0504-3BC0-43DB-98F8EE2EA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F2695E-BC20-3A82-553E-A73D46DE8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ED75-1AB9-471E-AEEC-5CDE65244D41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4281AC-D16B-F2AB-7DA7-E57A7EED7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08F5EE-A884-2039-E55B-F37BEB49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9CB4-F68F-4E1A-A1E6-8C9D000CA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77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1">
          <a:blip r:embed="rId2" cstate="email">
            <a:alphaModFix amt="4000"/>
            <a:lum/>
          </a:blip>
          <a:srcRect/>
          <a:tile tx="0" ty="0" sx="100000" sy="100000" flip="none" algn="b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52145" y="1385145"/>
            <a:ext cx="4087710" cy="408771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9AE33-E62E-49B7-AC0B-0504C9981B63}" type="datetime1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学而不厌，诲人不倦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F2D4F-2241-454B-AF5D-961C997CB3B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"/>
          <p:cNvSpPr>
            <a:spLocks noGrp="1"/>
          </p:cNvSpPr>
          <p:nvPr>
            <p:ph type="title" hasCustomPrompt="1"/>
          </p:nvPr>
        </p:nvSpPr>
        <p:spPr>
          <a:xfrm>
            <a:off x="865401" y="382479"/>
            <a:ext cx="4481299" cy="596348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zh-CN" altLang="en-US" dirty="0"/>
              <a:t>此处有标题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660400" y="305121"/>
            <a:ext cx="177800" cy="6255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 cstate="email"/>
          <a:stretch>
            <a:fillRect/>
          </a:stretch>
        </p:blipFill>
        <p:spPr>
          <a:xfrm>
            <a:off x="9408000" y="458241"/>
            <a:ext cx="2138000" cy="50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87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blipFill dpi="0" rotWithShape="1">
          <a:blip r:embed="rId2" cstate="email">
            <a:alphaModFix amt="4000"/>
            <a:lum/>
          </a:blip>
          <a:srcRect/>
          <a:tile tx="0" ty="0" sx="100000" sy="100000" flip="none" algn="b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52145" y="1385145"/>
            <a:ext cx="4087710" cy="408771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9500" y="-9525"/>
            <a:ext cx="12192000" cy="685800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4F437-3CD5-4678-BD84-6B872B0DA1BF}" type="datetime1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学而不厌，诲人不倦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F2D4F-2241-454B-AF5D-961C997CB3B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"/>
          <p:cNvSpPr>
            <a:spLocks noGrp="1"/>
          </p:cNvSpPr>
          <p:nvPr>
            <p:ph type="title" hasCustomPrompt="1"/>
          </p:nvPr>
        </p:nvSpPr>
        <p:spPr>
          <a:xfrm>
            <a:off x="865401" y="382479"/>
            <a:ext cx="4481299" cy="596348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zh-CN" altLang="en-US" dirty="0"/>
              <a:t>此处有标题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660400" y="305121"/>
            <a:ext cx="177800" cy="6255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3"/>
          </p:nvPr>
        </p:nvSpPr>
        <p:spPr>
          <a:xfrm>
            <a:off x="984000" y="1348770"/>
            <a:ext cx="4537075" cy="4706937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5" cstate="email"/>
          <a:stretch>
            <a:fillRect/>
          </a:stretch>
        </p:blipFill>
        <p:spPr>
          <a:xfrm>
            <a:off x="9408000" y="458241"/>
            <a:ext cx="2138000" cy="50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1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C505F8-28FD-D0F8-940E-DBF0CF46A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C72B6D-52F0-054C-A8BB-51828ADDD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F53D1A-BBAD-6410-B725-16365CA20A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4ED75-1AB9-471E-AEEC-5CDE65244D41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CFAA32-EA42-2FCA-F4B7-AD506A0A95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AE9DAF-EADA-B15A-B287-7BE326FC7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69CB4-F68F-4E1A-A1E6-8C9D000CA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70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6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-16264"/>
            <a:ext cx="12192000" cy="6874264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>
            <a:off x="1" y="-38100"/>
            <a:ext cx="12191999" cy="3467100"/>
          </a:xfrm>
          <a:custGeom>
            <a:avLst/>
            <a:gdLst>
              <a:gd name="connsiteX0" fmla="*/ 0 w 12191999"/>
              <a:gd name="connsiteY0" fmla="*/ 0 h 3467100"/>
              <a:gd name="connsiteX1" fmla="*/ 12191999 w 12191999"/>
              <a:gd name="connsiteY1" fmla="*/ 0 h 3467100"/>
              <a:gd name="connsiteX2" fmla="*/ 12191999 w 12191999"/>
              <a:gd name="connsiteY2" fmla="*/ 2387141 h 3467100"/>
              <a:gd name="connsiteX3" fmla="*/ 11986303 w 12191999"/>
              <a:gd name="connsiteY3" fmla="*/ 2471405 h 3467100"/>
              <a:gd name="connsiteX4" fmla="*/ 6121399 w 12191999"/>
              <a:gd name="connsiteY4" fmla="*/ 3467100 h 3467100"/>
              <a:gd name="connsiteX5" fmla="*/ 256496 w 12191999"/>
              <a:gd name="connsiteY5" fmla="*/ 2471405 h 3467100"/>
              <a:gd name="connsiteX6" fmla="*/ 0 w 12191999"/>
              <a:gd name="connsiteY6" fmla="*/ 2366332 h 346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467100">
                <a:moveTo>
                  <a:pt x="0" y="0"/>
                </a:moveTo>
                <a:lnTo>
                  <a:pt x="12191999" y="0"/>
                </a:lnTo>
                <a:lnTo>
                  <a:pt x="12191999" y="2387141"/>
                </a:lnTo>
                <a:lnTo>
                  <a:pt x="11986303" y="2471405"/>
                </a:lnTo>
                <a:cubicBezTo>
                  <a:pt x="10392508" y="3093437"/>
                  <a:pt x="8349226" y="3467100"/>
                  <a:pt x="6121399" y="3467100"/>
                </a:cubicBezTo>
                <a:cubicBezTo>
                  <a:pt x="3893572" y="3467100"/>
                  <a:pt x="1850290" y="3093437"/>
                  <a:pt x="256496" y="2471405"/>
                </a:cubicBezTo>
                <a:lnTo>
                  <a:pt x="0" y="2366332"/>
                </a:lnTo>
                <a:close/>
              </a:path>
            </a:pathLst>
          </a:custGeom>
          <a:solidFill>
            <a:srgbClr val="B249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0" y="-38100"/>
            <a:ext cx="12192000" cy="3241580"/>
          </a:xfrm>
          <a:custGeom>
            <a:avLst/>
            <a:gdLst>
              <a:gd name="connsiteX0" fmla="*/ 0 w 12192000"/>
              <a:gd name="connsiteY0" fmla="*/ 0 h 3906851"/>
              <a:gd name="connsiteX1" fmla="*/ 12192000 w 12192000"/>
              <a:gd name="connsiteY1" fmla="*/ 0 h 3906851"/>
              <a:gd name="connsiteX2" fmla="*/ 12192000 w 12192000"/>
              <a:gd name="connsiteY2" fmla="*/ 3011223 h 3906851"/>
              <a:gd name="connsiteX3" fmla="*/ 11986304 w 12192000"/>
              <a:gd name="connsiteY3" fmla="*/ 3081105 h 3906851"/>
              <a:gd name="connsiteX4" fmla="*/ 6121400 w 12192000"/>
              <a:gd name="connsiteY4" fmla="*/ 3906851 h 3906851"/>
              <a:gd name="connsiteX5" fmla="*/ 256497 w 12192000"/>
              <a:gd name="connsiteY5" fmla="*/ 3081105 h 3906851"/>
              <a:gd name="connsiteX6" fmla="*/ 0 w 12192000"/>
              <a:gd name="connsiteY6" fmla="*/ 2993965 h 3906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906851">
                <a:moveTo>
                  <a:pt x="0" y="0"/>
                </a:moveTo>
                <a:lnTo>
                  <a:pt x="12192000" y="0"/>
                </a:lnTo>
                <a:lnTo>
                  <a:pt x="12192000" y="3011223"/>
                </a:lnTo>
                <a:lnTo>
                  <a:pt x="11986304" y="3081105"/>
                </a:lnTo>
                <a:cubicBezTo>
                  <a:pt x="10392509" y="3596966"/>
                  <a:pt x="8349227" y="3906851"/>
                  <a:pt x="6121400" y="3906851"/>
                </a:cubicBezTo>
                <a:cubicBezTo>
                  <a:pt x="3893573" y="3906851"/>
                  <a:pt x="1850291" y="3596966"/>
                  <a:pt x="256497" y="3081105"/>
                </a:cubicBezTo>
                <a:lnTo>
                  <a:pt x="0" y="2993965"/>
                </a:lnTo>
                <a:close/>
              </a:path>
            </a:pathLst>
          </a:custGeom>
        </p:spPr>
      </p:pic>
      <p:sp>
        <p:nvSpPr>
          <p:cNvPr id="27" name="任意多边形 26"/>
          <p:cNvSpPr/>
          <p:nvPr/>
        </p:nvSpPr>
        <p:spPr>
          <a:xfrm>
            <a:off x="-12700" y="-38100"/>
            <a:ext cx="12204700" cy="3226110"/>
          </a:xfrm>
          <a:custGeom>
            <a:avLst/>
            <a:gdLst>
              <a:gd name="connsiteX0" fmla="*/ 0 w 12192000"/>
              <a:gd name="connsiteY0" fmla="*/ 0 h 3797300"/>
              <a:gd name="connsiteX1" fmla="*/ 12192000 w 12192000"/>
              <a:gd name="connsiteY1" fmla="*/ 0 h 3797300"/>
              <a:gd name="connsiteX2" fmla="*/ 12192000 w 12192000"/>
              <a:gd name="connsiteY2" fmla="*/ 2926786 h 3797300"/>
              <a:gd name="connsiteX3" fmla="*/ 11986304 w 12192000"/>
              <a:gd name="connsiteY3" fmla="*/ 2994708 h 3797300"/>
              <a:gd name="connsiteX4" fmla="*/ 6121400 w 12192000"/>
              <a:gd name="connsiteY4" fmla="*/ 3797300 h 3797300"/>
              <a:gd name="connsiteX5" fmla="*/ 256497 w 12192000"/>
              <a:gd name="connsiteY5" fmla="*/ 2994708 h 3797300"/>
              <a:gd name="connsiteX6" fmla="*/ 0 w 12192000"/>
              <a:gd name="connsiteY6" fmla="*/ 2910012 h 379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797300">
                <a:moveTo>
                  <a:pt x="0" y="0"/>
                </a:moveTo>
                <a:lnTo>
                  <a:pt x="12192000" y="0"/>
                </a:lnTo>
                <a:lnTo>
                  <a:pt x="12192000" y="2926786"/>
                </a:lnTo>
                <a:lnTo>
                  <a:pt x="11986304" y="2994708"/>
                </a:lnTo>
                <a:cubicBezTo>
                  <a:pt x="10392509" y="3496104"/>
                  <a:pt x="8349227" y="3797300"/>
                  <a:pt x="6121400" y="3797300"/>
                </a:cubicBezTo>
                <a:cubicBezTo>
                  <a:pt x="3893573" y="3797300"/>
                  <a:pt x="1850291" y="3496104"/>
                  <a:pt x="256497" y="2994708"/>
                </a:cubicBezTo>
                <a:lnTo>
                  <a:pt x="0" y="2910012"/>
                </a:lnTo>
                <a:close/>
              </a:path>
            </a:pathLst>
          </a:custGeom>
          <a:gradFill>
            <a:gsLst>
              <a:gs pos="41000">
                <a:schemeClr val="bg1">
                  <a:alpha val="57000"/>
                </a:schemeClr>
              </a:gs>
              <a:gs pos="0">
                <a:schemeClr val="bg1">
                  <a:alpha val="87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2189" y="4217435"/>
            <a:ext cx="9944781" cy="9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800" b="1" dirty="0">
                <a:solidFill>
                  <a:schemeClr val="accent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智能家庭植物养护管理系统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372493" y="5802267"/>
            <a:ext cx="2120900" cy="417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汇报人：秦宁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103753" y="5799745"/>
            <a:ext cx="2482969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导师：马飞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472336" y="5805460"/>
            <a:ext cx="2367129" cy="417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日期：</a:t>
            </a:r>
            <a:r>
              <a:rPr lang="en-US" altLang="zh-CN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2025.11.23</a:t>
            </a:r>
            <a:endParaRPr lang="zh-CN" altLang="en-US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245047" y="2760751"/>
            <a:ext cx="1701906" cy="1701906"/>
            <a:chOff x="5245047" y="2760751"/>
            <a:chExt cx="1701906" cy="1701906"/>
          </a:xfrm>
        </p:grpSpPr>
        <p:sp>
          <p:nvSpPr>
            <p:cNvPr id="3" name="椭圆 2"/>
            <p:cNvSpPr/>
            <p:nvPr/>
          </p:nvSpPr>
          <p:spPr>
            <a:xfrm>
              <a:off x="5245047" y="2760751"/>
              <a:ext cx="1701906" cy="17019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 cstate="email"/>
            <a:srcRect/>
            <a:stretch>
              <a:fillRect/>
            </a:stretch>
          </p:blipFill>
          <p:spPr>
            <a:xfrm>
              <a:off x="5282163" y="2791359"/>
              <a:ext cx="1602274" cy="1504658"/>
            </a:xfrm>
            <a:custGeom>
              <a:avLst/>
              <a:gdLst>
                <a:gd name="connsiteX0" fmla="*/ 0 w 1602274"/>
                <a:gd name="connsiteY0" fmla="*/ 0 h 1504658"/>
                <a:gd name="connsiteX1" fmla="*/ 1602274 w 1602274"/>
                <a:gd name="connsiteY1" fmla="*/ 0 h 1504658"/>
                <a:gd name="connsiteX2" fmla="*/ 1602274 w 1602274"/>
                <a:gd name="connsiteY2" fmla="*/ 1504658 h 1504658"/>
                <a:gd name="connsiteX3" fmla="*/ 0 w 1602274"/>
                <a:gd name="connsiteY3" fmla="*/ 1504658 h 1504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2274" h="1504658">
                  <a:moveTo>
                    <a:pt x="0" y="0"/>
                  </a:moveTo>
                  <a:lnTo>
                    <a:pt x="1602274" y="0"/>
                  </a:lnTo>
                  <a:lnTo>
                    <a:pt x="1602274" y="1504658"/>
                  </a:lnTo>
                  <a:lnTo>
                    <a:pt x="0" y="1504658"/>
                  </a:lnTo>
                  <a:close/>
                </a:path>
              </a:pathLst>
            </a:cu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0724" y="-15280"/>
            <a:ext cx="12202724" cy="6873280"/>
          </a:xfrm>
          <a:prstGeom prst="rect">
            <a:avLst/>
          </a:prstGeom>
          <a:solidFill>
            <a:schemeClr val="bg1"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5" cstate="email"/>
          <a:srcRect/>
          <a:stretch>
            <a:fillRect/>
          </a:stretch>
        </p:blipFill>
        <p:spPr>
          <a:xfrm>
            <a:off x="-10724" y="-15280"/>
            <a:ext cx="12202724" cy="2793900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-10724" y="-11441"/>
            <a:ext cx="12202724" cy="2847508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0" y="2715548"/>
            <a:ext cx="12192000" cy="1074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1048041" y="4059739"/>
            <a:ext cx="1115996" cy="1082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5400" b="1" dirty="0">
                <a:solidFill>
                  <a:schemeClr val="accent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01</a:t>
            </a:r>
            <a:endParaRPr lang="zh-CN" altLang="en-US" sz="5400" b="1" dirty="0">
              <a:solidFill>
                <a:schemeClr val="accent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726239" y="4997151"/>
            <a:ext cx="1652849" cy="608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项目背景</a:t>
            </a: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2711169" y="4997701"/>
            <a:ext cx="1617597" cy="608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架构概览</a:t>
            </a:r>
          </a:p>
        </p:txBody>
      </p:sp>
      <p:sp>
        <p:nvSpPr>
          <p:cNvPr id="22" name="文本框 21"/>
          <p:cNvSpPr txBox="1"/>
          <p:nvPr>
            <p:custDataLst>
              <p:tags r:id="rId4"/>
            </p:custDataLst>
          </p:nvPr>
        </p:nvSpPr>
        <p:spPr>
          <a:xfrm>
            <a:off x="4399434" y="4997151"/>
            <a:ext cx="2128887" cy="608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EER</a:t>
            </a:r>
            <a:r>
              <a:rPr lang="zh-CN" altLang="en-US" sz="2800" b="1" dirty="0">
                <a:latin typeface="+mj-ea"/>
                <a:ea typeface="+mj-ea"/>
              </a:rPr>
              <a:t> </a:t>
            </a:r>
            <a:r>
              <a:rPr lang="en-US" altLang="zh-CN" sz="2800" b="1" dirty="0">
                <a:latin typeface="+mj-ea"/>
                <a:ea typeface="+mj-ea"/>
              </a:rPr>
              <a:t>Diagram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6366519" y="4997151"/>
            <a:ext cx="1670209" cy="608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技术栈</a:t>
            </a: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7895474" y="5011036"/>
            <a:ext cx="1694853" cy="608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功能介绍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4735916" y="1339570"/>
            <a:ext cx="2720169" cy="2720169"/>
            <a:chOff x="980062" y="1170935"/>
            <a:chExt cx="4509112" cy="4509112"/>
          </a:xfrm>
        </p:grpSpPr>
        <p:sp>
          <p:nvSpPr>
            <p:cNvPr id="37" name="椭圆 36"/>
            <p:cNvSpPr/>
            <p:nvPr/>
          </p:nvSpPr>
          <p:spPr>
            <a:xfrm>
              <a:off x="1200000" y="1392113"/>
              <a:ext cx="4073774" cy="4073774"/>
            </a:xfrm>
            <a:prstGeom prst="ellipse">
              <a:avLst/>
            </a:prstGeom>
            <a:solidFill>
              <a:schemeClr val="accent1"/>
            </a:solidFill>
            <a:ln w="444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279097" y="1471210"/>
              <a:ext cx="3915580" cy="3915580"/>
            </a:xfrm>
            <a:prstGeom prst="ellipse">
              <a:avLst/>
            </a:prstGeom>
            <a:solidFill>
              <a:schemeClr val="bg1"/>
            </a:solidFill>
            <a:ln w="444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092495" y="1278080"/>
              <a:ext cx="4294823" cy="4294823"/>
            </a:xfrm>
            <a:prstGeom prst="ellipse">
              <a:avLst/>
            </a:prstGeom>
            <a:noFill/>
            <a:ln w="12700">
              <a:solidFill>
                <a:schemeClr val="accent1">
                  <a:shade val="50000"/>
                  <a:alpha val="48000"/>
                </a:schemeClr>
              </a:solidFill>
            </a:ln>
            <a:effectLst>
              <a:outerShdw blurRad="685800" sx="109000" sy="109000" algn="ctr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980062" y="1170935"/>
              <a:ext cx="4509112" cy="4509112"/>
            </a:xfrm>
            <a:prstGeom prst="ellipse">
              <a:avLst/>
            </a:prstGeom>
            <a:noFill/>
            <a:ln w="12700">
              <a:solidFill>
                <a:schemeClr val="accent1">
                  <a:shade val="50000"/>
                  <a:alpha val="37000"/>
                </a:schemeClr>
              </a:solidFill>
            </a:ln>
            <a:effectLst>
              <a:outerShdw blurRad="685800" sx="109000" sy="109000" algn="ctr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218717" y="1814412"/>
            <a:ext cx="1799254" cy="1067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5400" b="1" dirty="0">
                <a:solidFill>
                  <a:schemeClr val="accent1"/>
                </a:solidFill>
                <a:latin typeface="+mj-ea"/>
                <a:ea typeface="+mj-ea"/>
              </a:rPr>
              <a:t>目 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278964" y="2929792"/>
            <a:ext cx="1694319" cy="45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altLang="zh-CN" sz="2000" dirty="0">
                <a:solidFill>
                  <a:schemeClr val="accent1">
                    <a:alpha val="46000"/>
                  </a:schemeClr>
                </a:solidFill>
              </a:rPr>
              <a:t>CONTENTS</a:t>
            </a:r>
            <a:endParaRPr lang="zh-CN" altLang="en-US" sz="2000" dirty="0">
              <a:solidFill>
                <a:schemeClr val="accent1">
                  <a:alpha val="46000"/>
                </a:schemeClr>
              </a:solidFill>
            </a:endParaRPr>
          </a:p>
        </p:txBody>
      </p:sp>
      <p:sp>
        <p:nvSpPr>
          <p:cNvPr id="42" name="文本框 41"/>
          <p:cNvSpPr txBox="1"/>
          <p:nvPr>
            <p:custDataLst>
              <p:tags r:id="rId7"/>
            </p:custDataLst>
          </p:nvPr>
        </p:nvSpPr>
        <p:spPr>
          <a:xfrm>
            <a:off x="3032281" y="4060374"/>
            <a:ext cx="1115996" cy="1082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5400" b="1" dirty="0">
                <a:solidFill>
                  <a:schemeClr val="accent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02</a:t>
            </a:r>
            <a:endParaRPr lang="zh-CN" altLang="en-US" sz="5400" b="1" dirty="0">
              <a:solidFill>
                <a:schemeClr val="accent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8"/>
            </p:custDataLst>
          </p:nvPr>
        </p:nvSpPr>
        <p:spPr>
          <a:xfrm>
            <a:off x="4799986" y="4059739"/>
            <a:ext cx="1115996" cy="1082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5400" b="1" dirty="0">
                <a:solidFill>
                  <a:schemeClr val="accent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03</a:t>
            </a:r>
            <a:endParaRPr lang="zh-CN" altLang="en-US" sz="5400" b="1" dirty="0">
              <a:solidFill>
                <a:schemeClr val="accent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9"/>
            </p:custDataLst>
          </p:nvPr>
        </p:nvSpPr>
        <p:spPr>
          <a:xfrm>
            <a:off x="6528321" y="4005129"/>
            <a:ext cx="1115996" cy="1082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5400" b="1" dirty="0">
                <a:solidFill>
                  <a:schemeClr val="accent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04</a:t>
            </a:r>
            <a:endParaRPr lang="zh-CN" altLang="en-US" sz="5400" b="1" dirty="0">
              <a:solidFill>
                <a:schemeClr val="accent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0"/>
            </p:custDataLst>
          </p:nvPr>
        </p:nvSpPr>
        <p:spPr>
          <a:xfrm>
            <a:off x="8198238" y="3995604"/>
            <a:ext cx="1115996" cy="1082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5400" b="1" dirty="0">
                <a:solidFill>
                  <a:schemeClr val="accent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05</a:t>
            </a:r>
            <a:endParaRPr lang="zh-CN" altLang="en-US" sz="5400" b="1" dirty="0">
              <a:solidFill>
                <a:schemeClr val="accent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10055613" y="3995604"/>
            <a:ext cx="1115996" cy="1170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5400" b="1" dirty="0">
                <a:solidFill>
                  <a:schemeClr val="accent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06</a:t>
            </a:r>
            <a:endParaRPr lang="zh-CN" altLang="en-US" sz="5400" b="1" dirty="0">
              <a:solidFill>
                <a:schemeClr val="accent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9767321" y="4997151"/>
            <a:ext cx="1670209" cy="608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项目总结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1483852" y="1749425"/>
            <a:ext cx="9224296" cy="3968750"/>
          </a:xfrm>
          <a:prstGeom prst="roundRect">
            <a:avLst>
              <a:gd name="adj" fmla="val 9045"/>
            </a:avLst>
          </a:prstGeom>
          <a:solidFill>
            <a:schemeClr val="bg2"/>
          </a:solidFill>
          <a:ln>
            <a:noFill/>
          </a:ln>
          <a:effectLst>
            <a:outerShdw blurRad="304800" dist="38100" dir="2700000" sx="99000" sy="99000" algn="tl" rotWithShape="0">
              <a:prstClr val="black">
                <a:alpha val="3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/>
              <a:t>学而不厌，诲人不倦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fld id="{E60F2D4F-2241-454B-AF5D-961C997CB3BA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2000" y="299675"/>
            <a:ext cx="4481299" cy="596348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项目背景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703705" y="2296795"/>
            <a:ext cx="8735695" cy="2972435"/>
          </a:xfrm>
        </p:spPr>
        <p:txBody>
          <a:bodyPr>
            <a:noAutofit/>
          </a:bodyPr>
          <a:lstStyle/>
          <a:p>
            <a:pPr marL="0" indent="457200" fontAlgn="auto">
              <a:lnSpc>
                <a:spcPct val="130000"/>
              </a:lnSpc>
              <a:buNone/>
            </a:pPr>
            <a:r>
              <a:rPr lang="zh-CN" altLang="en-US" sz="2400" spc="100" dirty="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随着城市生活节奏加快，越来越多的人选择在家中养护植物来美化环境和缓解压力。然而，植物养护需要专业的知识和持续的照料，很多植物爱好者因缺乏系统的管理方法而导致植物生长不良。本项目旨在开发一个智能化的家庭植物养护管理系统，帮助用户科学地管理植物养护全过程。</a:t>
            </a:r>
          </a:p>
        </p:txBody>
      </p:sp>
      <p:sp>
        <p:nvSpPr>
          <p:cNvPr id="9" name="quotation-mark_32371"/>
          <p:cNvSpPr>
            <a:spLocks noChangeAspect="1"/>
          </p:cNvSpPr>
          <p:nvPr/>
        </p:nvSpPr>
        <p:spPr bwMode="auto">
          <a:xfrm>
            <a:off x="1434711" y="1177924"/>
            <a:ext cx="901700" cy="836888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txBody>
          <a:bodyPr/>
          <a:lstStyle/>
          <a:p>
            <a:pPr>
              <a:lnSpc>
                <a:spcPct val="130000"/>
              </a:lnSpc>
            </a:pPr>
            <a:endParaRPr lang="zh-CN" altLang="en-US"/>
          </a:p>
        </p:txBody>
      </p:sp>
      <p:sp>
        <p:nvSpPr>
          <p:cNvPr id="10" name="quotation-mark_32371"/>
          <p:cNvSpPr>
            <a:spLocks noChangeAspect="1"/>
          </p:cNvSpPr>
          <p:nvPr/>
        </p:nvSpPr>
        <p:spPr bwMode="auto">
          <a:xfrm rot="10800000">
            <a:off x="10038715" y="5429885"/>
            <a:ext cx="647065" cy="600710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txBody>
          <a:bodyPr/>
          <a:lstStyle/>
          <a:p>
            <a:pPr>
              <a:lnSpc>
                <a:spcPct val="130000"/>
              </a:lnSpc>
            </a:pP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F2D4F-2241-454B-AF5D-961C997CB3B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5401" y="310724"/>
            <a:ext cx="4481299" cy="596348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架构概览</a:t>
            </a:r>
          </a:p>
        </p:txBody>
      </p:sp>
      <p:sp>
        <p:nvSpPr>
          <p:cNvPr id="10" name="圆角矩形 9"/>
          <p:cNvSpPr/>
          <p:nvPr>
            <p:custDataLst>
              <p:tags r:id="rId1"/>
            </p:custDataLst>
          </p:nvPr>
        </p:nvSpPr>
        <p:spPr>
          <a:xfrm>
            <a:off x="5953125" y="1137285"/>
            <a:ext cx="5782945" cy="5304790"/>
          </a:xfrm>
          <a:prstGeom prst="roundRect">
            <a:avLst>
              <a:gd name="adj" fmla="val 5242"/>
            </a:avLst>
          </a:prstGeom>
          <a:solidFill>
            <a:schemeClr val="bg2">
              <a:alpha val="2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用户界面操作 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    → 业务逻辑验证和处理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    → 数据模型操作  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    → 数据库持久化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    → 界面状态更新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    → 用户反馈</a:t>
            </a:r>
            <a:endParaRPr lang="en-US" altLang="zh-CN" sz="1400" spc="100" dirty="0">
              <a:solidFill>
                <a:schemeClr val="tx1"/>
              </a:solidFill>
            </a:endParaRP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系统启动</a:t>
            </a:r>
            <a:r>
              <a:rPr lang="en-US" altLang="zh-CN" sz="1400" spc="100" dirty="0">
                <a:solidFill>
                  <a:schemeClr val="tx1"/>
                </a:solidFill>
              </a:rPr>
              <a:t>/</a:t>
            </a:r>
            <a:r>
              <a:rPr lang="zh-CN" altLang="en-US" sz="1400" spc="100" dirty="0">
                <a:solidFill>
                  <a:schemeClr val="tx1"/>
                </a:solidFill>
              </a:rPr>
              <a:t>定时检查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    → 读取植物和养护数据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    → 提醒引擎计算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    → 生成提醒列表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    → 界面提醒展示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    → 用户处理反馈</a:t>
            </a:r>
            <a:endParaRPr lang="en-US" altLang="zh-CN" sz="1400" spc="100" dirty="0">
              <a:solidFill>
                <a:schemeClr val="tx1"/>
              </a:solidFill>
            </a:endParaRP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用户请求报表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    → 查询相关数据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    → 数据聚合分析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    → 图表生成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    → 界面展示</a:t>
            </a:r>
          </a:p>
        </p:txBody>
      </p:sp>
      <p:grpSp>
        <p:nvGrpSpPr>
          <p:cNvPr id="56" name="组合 55"/>
          <p:cNvGrpSpPr/>
          <p:nvPr/>
        </p:nvGrpSpPr>
        <p:grpSpPr>
          <a:xfrm>
            <a:off x="944880" y="1287145"/>
            <a:ext cx="4864100" cy="5189852"/>
            <a:chOff x="1488" y="1983"/>
            <a:chExt cx="7660" cy="8217"/>
          </a:xfrm>
        </p:grpSpPr>
        <p:sp>
          <p:nvSpPr>
            <p:cNvPr id="2" name="矩形 1"/>
            <p:cNvSpPr/>
            <p:nvPr/>
          </p:nvSpPr>
          <p:spPr>
            <a:xfrm>
              <a:off x="1488" y="1983"/>
              <a:ext cx="7660" cy="8217"/>
            </a:xfrm>
            <a:prstGeom prst="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776" y="2138"/>
              <a:ext cx="7133" cy="698"/>
            </a:xfrm>
            <a:prstGeom prst="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507" y="2258"/>
              <a:ext cx="1386" cy="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表示层</a:t>
              </a:r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776" y="3019"/>
              <a:ext cx="2267" cy="833"/>
            </a:xfrm>
            <a:prstGeom prst="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>
              <p:custDataLst>
                <p:tags r:id="rId3"/>
              </p:custDataLst>
            </p:nvPr>
          </p:nvSpPr>
          <p:spPr>
            <a:xfrm>
              <a:off x="4214" y="3019"/>
              <a:ext cx="2267" cy="833"/>
            </a:xfrm>
            <a:prstGeom prst="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>
              <p:custDataLst>
                <p:tags r:id="rId4"/>
              </p:custDataLst>
            </p:nvPr>
          </p:nvSpPr>
          <p:spPr>
            <a:xfrm>
              <a:off x="6652" y="3019"/>
              <a:ext cx="2257" cy="833"/>
            </a:xfrm>
            <a:prstGeom prst="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>
              <p:custDataLst>
                <p:tags r:id="rId5"/>
              </p:custDataLst>
            </p:nvPr>
          </p:nvSpPr>
          <p:spPr>
            <a:xfrm>
              <a:off x="1910" y="3085"/>
              <a:ext cx="2058" cy="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Custom </a:t>
              </a:r>
              <a:r>
                <a:rPr lang="en-US" altLang="zh-CN" sz="1200" dirty="0" err="1"/>
                <a:t>TKinter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GUI</a:t>
              </a:r>
              <a:r>
                <a:rPr lang="zh-CN" altLang="en-US" sz="1200" dirty="0"/>
                <a:t>界面</a:t>
              </a:r>
            </a:p>
          </p:txBody>
        </p:sp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4386" y="3087"/>
              <a:ext cx="2021" cy="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Matplotlib</a:t>
              </a:r>
            </a:p>
            <a:p>
              <a:pPr algn="ctr"/>
              <a:r>
                <a:rPr lang="zh-CN" altLang="en-US" sz="1200" dirty="0"/>
                <a:t>图表可视化</a:t>
              </a:r>
            </a:p>
          </p:txBody>
        </p:sp>
        <p:sp>
          <p:nvSpPr>
            <p:cNvPr id="21" name="文本框 20"/>
            <p:cNvSpPr txBox="1"/>
            <p:nvPr>
              <p:custDataLst>
                <p:tags r:id="rId7"/>
              </p:custDataLst>
            </p:nvPr>
          </p:nvSpPr>
          <p:spPr>
            <a:xfrm>
              <a:off x="6879" y="3098"/>
              <a:ext cx="1881" cy="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/>
                <a:t>消息对话框</a:t>
              </a:r>
              <a:endParaRPr lang="en-US" altLang="zh-CN" sz="1200" dirty="0"/>
            </a:p>
            <a:p>
              <a:pPr algn="ctr"/>
              <a:r>
                <a:rPr lang="zh-CN" altLang="en-US" sz="1200" dirty="0"/>
                <a:t>用户交互反馈</a:t>
              </a:r>
            </a:p>
          </p:txBody>
        </p:sp>
      </p:grpSp>
      <p:sp>
        <p:nvSpPr>
          <p:cNvPr id="26" name="矩形 25"/>
          <p:cNvSpPr/>
          <p:nvPr/>
        </p:nvSpPr>
        <p:spPr>
          <a:xfrm>
            <a:off x="1127760" y="2538095"/>
            <a:ext cx="4529455" cy="443230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2718435" y="2586355"/>
            <a:ext cx="2656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业务逻辑层</a:t>
            </a:r>
          </a:p>
        </p:txBody>
      </p:sp>
      <p:sp>
        <p:nvSpPr>
          <p:cNvPr id="28" name="矩形 27"/>
          <p:cNvSpPr/>
          <p:nvPr/>
        </p:nvSpPr>
        <p:spPr>
          <a:xfrm>
            <a:off x="1152525" y="3045460"/>
            <a:ext cx="1367155" cy="351447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205864" y="3077210"/>
            <a:ext cx="1263016" cy="2841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dirty="0"/>
              <a:t>植物管理逻辑</a:t>
            </a:r>
          </a:p>
        </p:txBody>
      </p:sp>
      <p:sp>
        <p:nvSpPr>
          <p:cNvPr id="36" name="矩形 35"/>
          <p:cNvSpPr/>
          <p:nvPr/>
        </p:nvSpPr>
        <p:spPr>
          <a:xfrm>
            <a:off x="1158875" y="4042091"/>
            <a:ext cx="4529455" cy="443230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2731771" y="4085271"/>
            <a:ext cx="2656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数据访问层</a:t>
            </a:r>
          </a:p>
        </p:txBody>
      </p:sp>
      <p:sp>
        <p:nvSpPr>
          <p:cNvPr id="46" name="矩形 45"/>
          <p:cNvSpPr/>
          <p:nvPr/>
        </p:nvSpPr>
        <p:spPr>
          <a:xfrm>
            <a:off x="1158875" y="5466715"/>
            <a:ext cx="4529455" cy="443230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2749550" y="5514975"/>
            <a:ext cx="2656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数据存储层</a:t>
            </a:r>
          </a:p>
        </p:txBody>
      </p:sp>
      <p:sp>
        <p:nvSpPr>
          <p:cNvPr id="48" name="矩形 47"/>
          <p:cNvSpPr/>
          <p:nvPr/>
        </p:nvSpPr>
        <p:spPr>
          <a:xfrm>
            <a:off x="1200149" y="5997401"/>
            <a:ext cx="4406265" cy="305609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1200150" y="5997401"/>
            <a:ext cx="4413251" cy="246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dirty="0"/>
              <a:t>MySQL</a:t>
            </a:r>
            <a:r>
              <a:rPr lang="zh-CN" altLang="en-US" sz="1200" dirty="0"/>
              <a:t>数据库；</a:t>
            </a:r>
            <a:r>
              <a:rPr lang="en-US" altLang="zh-CN" sz="1200" dirty="0" err="1"/>
              <a:t>Plant_species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My_plants</a:t>
            </a:r>
            <a:r>
              <a:rPr lang="zh-CN" altLang="en-US" sz="1200" dirty="0"/>
              <a:t>等数据表</a:t>
            </a:r>
            <a:endParaRPr lang="en-US" altLang="zh-CN" sz="1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8F8A1C-C0CE-0145-1710-C585EDCFE651}"/>
              </a:ext>
            </a:extLst>
          </p:cNvPr>
          <p:cNvSpPr/>
          <p:nvPr/>
        </p:nvSpPr>
        <p:spPr>
          <a:xfrm>
            <a:off x="2731771" y="3046730"/>
            <a:ext cx="1367155" cy="351447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44457D-7D74-D7B5-6181-AF7DC9E1513A}"/>
              </a:ext>
            </a:extLst>
          </p:cNvPr>
          <p:cNvSpPr txBox="1"/>
          <p:nvPr/>
        </p:nvSpPr>
        <p:spPr>
          <a:xfrm>
            <a:off x="2785110" y="3088640"/>
            <a:ext cx="1263016" cy="2841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dirty="0"/>
              <a:t>养护业务逻辑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60BC53-115C-8B17-6373-C650A2B10699}"/>
              </a:ext>
            </a:extLst>
          </p:cNvPr>
          <p:cNvSpPr/>
          <p:nvPr/>
        </p:nvSpPr>
        <p:spPr>
          <a:xfrm>
            <a:off x="4239260" y="3045460"/>
            <a:ext cx="1367155" cy="351447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5004381-07E7-6EFE-6B15-EF95A0BEA0B4}"/>
              </a:ext>
            </a:extLst>
          </p:cNvPr>
          <p:cNvSpPr txBox="1"/>
          <p:nvPr/>
        </p:nvSpPr>
        <p:spPr>
          <a:xfrm>
            <a:off x="4292599" y="3077210"/>
            <a:ext cx="1263016" cy="2841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dirty="0"/>
              <a:t>报表生成逻辑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8EE366A-A3E3-3558-0BA3-6BA857EC268B}"/>
              </a:ext>
            </a:extLst>
          </p:cNvPr>
          <p:cNvSpPr/>
          <p:nvPr/>
        </p:nvSpPr>
        <p:spPr>
          <a:xfrm>
            <a:off x="1149351" y="3594443"/>
            <a:ext cx="1367155" cy="351447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BC0B9E2-E5AB-C7FE-060D-D1C41E35EE75}"/>
              </a:ext>
            </a:extLst>
          </p:cNvPr>
          <p:cNvSpPr txBox="1"/>
          <p:nvPr/>
        </p:nvSpPr>
        <p:spPr>
          <a:xfrm>
            <a:off x="1212850" y="3626193"/>
            <a:ext cx="1263016" cy="2841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dirty="0"/>
              <a:t>品种管理逻辑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FA64B35-8E54-A932-4A91-1AFA4407391B}"/>
              </a:ext>
            </a:extLst>
          </p:cNvPr>
          <p:cNvSpPr/>
          <p:nvPr/>
        </p:nvSpPr>
        <p:spPr>
          <a:xfrm>
            <a:off x="2731771" y="3602673"/>
            <a:ext cx="1367155" cy="351447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1070518-83F4-1FF3-E0C4-9E08B35BFA0F}"/>
              </a:ext>
            </a:extLst>
          </p:cNvPr>
          <p:cNvSpPr txBox="1"/>
          <p:nvPr/>
        </p:nvSpPr>
        <p:spPr>
          <a:xfrm>
            <a:off x="2785110" y="3634423"/>
            <a:ext cx="1263016" cy="2841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dirty="0"/>
              <a:t>可视化业务逻辑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794DB10-A712-E17F-FA6C-0D146E023ECF}"/>
              </a:ext>
            </a:extLst>
          </p:cNvPr>
          <p:cNvSpPr/>
          <p:nvPr/>
        </p:nvSpPr>
        <p:spPr>
          <a:xfrm>
            <a:off x="4240532" y="3602673"/>
            <a:ext cx="1367155" cy="351447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B468E74-257E-55C4-0767-1AE837693C27}"/>
              </a:ext>
            </a:extLst>
          </p:cNvPr>
          <p:cNvSpPr txBox="1"/>
          <p:nvPr/>
        </p:nvSpPr>
        <p:spPr>
          <a:xfrm>
            <a:off x="4293871" y="3634423"/>
            <a:ext cx="1263016" cy="2841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dirty="0"/>
              <a:t>数据查看逻辑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99D2536-0BA6-E86C-4BED-9AA546C65E3E}"/>
              </a:ext>
            </a:extLst>
          </p:cNvPr>
          <p:cNvSpPr/>
          <p:nvPr/>
        </p:nvSpPr>
        <p:spPr>
          <a:xfrm>
            <a:off x="1159511" y="4589662"/>
            <a:ext cx="1367155" cy="351447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A89B27F-3A2B-252D-C4F6-AC804F1E9DD3}"/>
              </a:ext>
            </a:extLst>
          </p:cNvPr>
          <p:cNvSpPr txBox="1"/>
          <p:nvPr/>
        </p:nvSpPr>
        <p:spPr>
          <a:xfrm>
            <a:off x="1212850" y="4621412"/>
            <a:ext cx="1263016" cy="2841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dirty="0"/>
              <a:t>品种数据操作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3D18C55-E41E-FFDC-2F76-28AE7F2D8FB2}"/>
              </a:ext>
            </a:extLst>
          </p:cNvPr>
          <p:cNvSpPr/>
          <p:nvPr/>
        </p:nvSpPr>
        <p:spPr>
          <a:xfrm>
            <a:off x="2738757" y="4590932"/>
            <a:ext cx="1367155" cy="351447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C369FF0-4E56-3D03-9F96-E85837EF3494}"/>
              </a:ext>
            </a:extLst>
          </p:cNvPr>
          <p:cNvSpPr txBox="1"/>
          <p:nvPr/>
        </p:nvSpPr>
        <p:spPr>
          <a:xfrm>
            <a:off x="2792096" y="4632842"/>
            <a:ext cx="1263016" cy="2841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dirty="0"/>
              <a:t>植物数据操作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A85E03F-43A8-91C4-9360-C40EE1DA85BA}"/>
              </a:ext>
            </a:extLst>
          </p:cNvPr>
          <p:cNvSpPr/>
          <p:nvPr/>
        </p:nvSpPr>
        <p:spPr>
          <a:xfrm>
            <a:off x="4246246" y="4589662"/>
            <a:ext cx="1367155" cy="351447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65D36A9A-0C83-B207-0EAF-F26EC61CC176}"/>
              </a:ext>
            </a:extLst>
          </p:cNvPr>
          <p:cNvSpPr txBox="1"/>
          <p:nvPr/>
        </p:nvSpPr>
        <p:spPr>
          <a:xfrm>
            <a:off x="4299585" y="4621412"/>
            <a:ext cx="1263016" cy="2841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dirty="0"/>
              <a:t>养护数据操作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BF52512-FCEE-6808-A681-6C9A9B315A93}"/>
              </a:ext>
            </a:extLst>
          </p:cNvPr>
          <p:cNvSpPr/>
          <p:nvPr/>
        </p:nvSpPr>
        <p:spPr>
          <a:xfrm>
            <a:off x="1156337" y="5016725"/>
            <a:ext cx="1367155" cy="351447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B9455AC-E054-D1F7-6D9E-120546258317}"/>
              </a:ext>
            </a:extLst>
          </p:cNvPr>
          <p:cNvSpPr txBox="1"/>
          <p:nvPr/>
        </p:nvSpPr>
        <p:spPr>
          <a:xfrm>
            <a:off x="1219836" y="5048475"/>
            <a:ext cx="1263016" cy="2841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dirty="0"/>
              <a:t>生长数据操作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143420C-D347-31CE-AE91-D1EDE3C1B1D2}"/>
              </a:ext>
            </a:extLst>
          </p:cNvPr>
          <p:cNvSpPr/>
          <p:nvPr/>
        </p:nvSpPr>
        <p:spPr>
          <a:xfrm>
            <a:off x="2738757" y="5024955"/>
            <a:ext cx="1367155" cy="351447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7F379DA-F6FF-221B-5B2A-B0243015DE31}"/>
              </a:ext>
            </a:extLst>
          </p:cNvPr>
          <p:cNvSpPr txBox="1"/>
          <p:nvPr/>
        </p:nvSpPr>
        <p:spPr>
          <a:xfrm>
            <a:off x="2792096" y="5056705"/>
            <a:ext cx="1263016" cy="2841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dirty="0"/>
              <a:t>数据库连接管理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5401" y="341839"/>
            <a:ext cx="4481299" cy="596348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en-US" altLang="zh-CN" b="1" dirty="0">
                <a:latin typeface="+mj-ea"/>
              </a:rPr>
              <a:t>EER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Diagram</a:t>
            </a:r>
            <a:endParaRPr lang="zh-CN" altLang="en-US" b="1" dirty="0">
              <a:latin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4F437-3CD5-4678-BD84-6B872B0DA1BF}" type="datetime1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学而不厌，诲人不倦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F2D4F-2241-454B-AF5D-961C997CB3BA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4CD16C0-5D98-D7C3-CE18-03DE7C4A8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52400"/>
            <a:ext cx="8839200" cy="655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/>
              <a:t>学而不厌，诲人不倦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fld id="{E60F2D4F-2241-454B-AF5D-961C997CB3B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6401" y="270627"/>
            <a:ext cx="3275599" cy="615399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技术栈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31EDD1-D1BA-498D-58E4-BD8A7B0CB7CB}"/>
              </a:ext>
            </a:extLst>
          </p:cNvPr>
          <p:cNvSpPr txBox="1"/>
          <p:nvPr/>
        </p:nvSpPr>
        <p:spPr>
          <a:xfrm>
            <a:off x="956982" y="1512918"/>
            <a:ext cx="1027803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技术选型</a:t>
            </a:r>
            <a:endParaRPr lang="en-US" altLang="zh-CN" sz="3200" b="1" dirty="0"/>
          </a:p>
          <a:p>
            <a:r>
              <a:rPr lang="zh-CN" altLang="en-US" sz="2400" dirty="0"/>
              <a:t>前端界面：</a:t>
            </a:r>
            <a:r>
              <a:rPr lang="en-US" altLang="zh-CN" sz="2400" dirty="0"/>
              <a:t>Custom </a:t>
            </a:r>
            <a:r>
              <a:rPr lang="en-US" altLang="zh-CN" sz="2400" dirty="0" err="1"/>
              <a:t>Tkinter</a:t>
            </a:r>
            <a:endParaRPr lang="en-US" altLang="zh-CN" sz="2400" dirty="0"/>
          </a:p>
          <a:p>
            <a:r>
              <a:rPr lang="zh-CN" altLang="en-US" sz="2400" dirty="0"/>
              <a:t>数据可视化：</a:t>
            </a:r>
            <a:r>
              <a:rPr lang="en-US" altLang="zh-CN" sz="2400" dirty="0"/>
              <a:t>Matplotlib</a:t>
            </a:r>
          </a:p>
          <a:p>
            <a:r>
              <a:rPr lang="zh-CN" altLang="en-US" sz="2400" dirty="0"/>
              <a:t>数据库：</a:t>
            </a:r>
            <a:r>
              <a:rPr lang="en-US" altLang="zh-CN" sz="2400" dirty="0"/>
              <a:t>MySQL</a:t>
            </a:r>
          </a:p>
          <a:p>
            <a:r>
              <a:rPr lang="zh-CN" altLang="en-US" sz="2400" dirty="0"/>
              <a:t>核心语言：</a:t>
            </a:r>
            <a:r>
              <a:rPr lang="en-US" altLang="zh-CN" sz="2400" dirty="0"/>
              <a:t>Python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sz="3200" b="1" dirty="0"/>
              <a:t>开发工具</a:t>
            </a:r>
            <a:endParaRPr lang="en-US" altLang="zh-CN" sz="3200" b="1" dirty="0"/>
          </a:p>
          <a:p>
            <a:r>
              <a:rPr lang="en-US" altLang="zh-CN" sz="2400" dirty="0"/>
              <a:t>IDE</a:t>
            </a:r>
            <a:r>
              <a:rPr lang="zh-CN" altLang="en-US" sz="2400" dirty="0"/>
              <a:t>：</a:t>
            </a:r>
            <a:r>
              <a:rPr lang="en-US" altLang="zh-CN" sz="2400" dirty="0"/>
              <a:t>VS Code</a:t>
            </a:r>
          </a:p>
          <a:p>
            <a:r>
              <a:rPr lang="zh-CN" altLang="en-US" sz="2400" dirty="0"/>
              <a:t>数据库管理：</a:t>
            </a:r>
            <a:r>
              <a:rPr lang="en-US" altLang="zh-CN" sz="2400" dirty="0"/>
              <a:t>MySQL Workbench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275543" y="1111829"/>
            <a:ext cx="10027228" cy="513311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  <a:effectLst>
            <a:outerShdw blurRad="368300" dist="38100" dir="2700000" sx="101000" sy="101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/>
              <a:t>学而不厌，诲人不倦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fld id="{E60F2D4F-2241-454B-AF5D-961C997CB3B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6401" y="270627"/>
            <a:ext cx="3275599" cy="615399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功能介绍</a:t>
            </a:r>
          </a:p>
        </p:txBody>
      </p:sp>
      <p:sp>
        <p:nvSpPr>
          <p:cNvPr id="41" name="îṣľíḍè"/>
          <p:cNvSpPr/>
          <p:nvPr/>
        </p:nvSpPr>
        <p:spPr>
          <a:xfrm>
            <a:off x="1668708" y="1697902"/>
            <a:ext cx="4100579" cy="1922642"/>
          </a:xfrm>
          <a:prstGeom prst="rect">
            <a:avLst/>
          </a:prstGeom>
          <a:noFill/>
          <a:ln w="12700" cap="rnd">
            <a:solidFill>
              <a:schemeClr val="bg1">
                <a:lumMod val="85000"/>
              </a:scheme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添加品种 </a:t>
            </a:r>
            <a:r>
              <a:rPr lang="en-US" altLang="zh-CN" sz="1400" spc="100" dirty="0">
                <a:solidFill>
                  <a:schemeClr val="tx1"/>
                </a:solidFill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</a:rPr>
              <a:t>录入植物信息和养护标准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管理品种 </a:t>
            </a:r>
            <a:r>
              <a:rPr lang="en-US" altLang="zh-CN" sz="1400" spc="100" dirty="0">
                <a:solidFill>
                  <a:schemeClr val="tx1"/>
                </a:solidFill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</a:rPr>
              <a:t>查看、编辑、删除植物种类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养护知识 </a:t>
            </a:r>
            <a:r>
              <a:rPr lang="en-US" altLang="zh-CN" sz="1400" spc="100" dirty="0">
                <a:solidFill>
                  <a:schemeClr val="tx1"/>
                </a:solidFill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</a:rPr>
              <a:t>存储光照、浇水、施肥等要求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2868165" y="1269023"/>
            <a:ext cx="1891145" cy="460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/>
              <a:t>植物品种库</a:t>
            </a:r>
          </a:p>
        </p:txBody>
      </p:sp>
      <p:sp>
        <p:nvSpPr>
          <p:cNvPr id="40" name="任意多边形 39"/>
          <p:cNvSpPr/>
          <p:nvPr/>
        </p:nvSpPr>
        <p:spPr>
          <a:xfrm>
            <a:off x="2063438" y="1226433"/>
            <a:ext cx="534457" cy="639650"/>
          </a:xfrm>
          <a:custGeom>
            <a:avLst/>
            <a:gdLst>
              <a:gd name="connsiteX0" fmla="*/ 907735 w 2501585"/>
              <a:gd name="connsiteY0" fmla="*/ 0 h 2993951"/>
              <a:gd name="connsiteX1" fmla="*/ 1593535 w 2501585"/>
              <a:gd name="connsiteY1" fmla="*/ 0 h 2993951"/>
              <a:gd name="connsiteX2" fmla="*/ 1593535 w 2501585"/>
              <a:gd name="connsiteY2" fmla="*/ 630768 h 2993951"/>
              <a:gd name="connsiteX3" fmla="*/ 2258915 w 2501585"/>
              <a:gd name="connsiteY3" fmla="*/ 630768 h 2993951"/>
              <a:gd name="connsiteX4" fmla="*/ 2501585 w 2501585"/>
              <a:gd name="connsiteY4" fmla="*/ 2991942 h 2993951"/>
              <a:gd name="connsiteX5" fmla="*/ 2498637 w 2501585"/>
              <a:gd name="connsiteY5" fmla="*/ 2991957 h 2993951"/>
              <a:gd name="connsiteX6" fmla="*/ 2388969 w 2501585"/>
              <a:gd name="connsiteY6" fmla="*/ 2908347 h 2993951"/>
              <a:gd name="connsiteX7" fmla="*/ 1250730 w 2501585"/>
              <a:gd name="connsiteY7" fmla="*/ 2586105 h 2993951"/>
              <a:gd name="connsiteX8" fmla="*/ 112515 w 2501585"/>
              <a:gd name="connsiteY8" fmla="*/ 2908203 h 2993951"/>
              <a:gd name="connsiteX9" fmla="*/ 0 w 2501585"/>
              <a:gd name="connsiteY9" fmla="*/ 2993951 h 2993951"/>
              <a:gd name="connsiteX10" fmla="*/ 17491 w 2501585"/>
              <a:gd name="connsiteY10" fmla="*/ 2397284 h 2993951"/>
              <a:gd name="connsiteX11" fmla="*/ 242356 w 2501585"/>
              <a:gd name="connsiteY11" fmla="*/ 630768 h 2993951"/>
              <a:gd name="connsiteX12" fmla="*/ 907735 w 2501585"/>
              <a:gd name="connsiteY12" fmla="*/ 630768 h 299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01585" h="2993951">
                <a:moveTo>
                  <a:pt x="907735" y="0"/>
                </a:moveTo>
                <a:lnTo>
                  <a:pt x="1593535" y="0"/>
                </a:lnTo>
                <a:lnTo>
                  <a:pt x="1593535" y="630768"/>
                </a:lnTo>
                <a:lnTo>
                  <a:pt x="2258915" y="630768"/>
                </a:lnTo>
                <a:cubicBezTo>
                  <a:pt x="2462572" y="1429115"/>
                  <a:pt x="2458795" y="2176662"/>
                  <a:pt x="2501585" y="2991942"/>
                </a:cubicBezTo>
                <a:lnTo>
                  <a:pt x="2498637" y="2991957"/>
                </a:lnTo>
                <a:lnTo>
                  <a:pt x="2388969" y="2908347"/>
                </a:lnTo>
                <a:cubicBezTo>
                  <a:pt x="2087559" y="2703075"/>
                  <a:pt x="1679209" y="2586123"/>
                  <a:pt x="1250730" y="2586105"/>
                </a:cubicBezTo>
                <a:cubicBezTo>
                  <a:pt x="822290" y="2586089"/>
                  <a:pt x="413953" y="2702987"/>
                  <a:pt x="112515" y="2908203"/>
                </a:cubicBezTo>
                <a:lnTo>
                  <a:pt x="0" y="2993951"/>
                </a:lnTo>
                <a:lnTo>
                  <a:pt x="17491" y="2397284"/>
                </a:lnTo>
                <a:cubicBezTo>
                  <a:pt x="37678" y="1803682"/>
                  <a:pt x="76914" y="1242228"/>
                  <a:pt x="242356" y="630768"/>
                </a:cubicBezTo>
                <a:lnTo>
                  <a:pt x="907735" y="6307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01</a:t>
            </a:r>
            <a:endParaRPr lang="zh-CN" altLang="en-US" b="1" dirty="0"/>
          </a:p>
        </p:txBody>
      </p:sp>
      <p:grpSp>
        <p:nvGrpSpPr>
          <p:cNvPr id="24" name="组合 23"/>
          <p:cNvGrpSpPr/>
          <p:nvPr/>
        </p:nvGrpSpPr>
        <p:grpSpPr>
          <a:xfrm>
            <a:off x="2143100" y="1109589"/>
            <a:ext cx="7924800" cy="2859325"/>
            <a:chOff x="2133600" y="870595"/>
            <a:chExt cx="7924800" cy="2859325"/>
          </a:xfrm>
        </p:grpSpPr>
        <p:grpSp>
          <p:nvGrpSpPr>
            <p:cNvPr id="5" name="组合 4"/>
            <p:cNvGrpSpPr/>
            <p:nvPr/>
          </p:nvGrpSpPr>
          <p:grpSpPr>
            <a:xfrm>
              <a:off x="5795080" y="3128080"/>
              <a:ext cx="601840" cy="601840"/>
              <a:chOff x="3859968" y="2867811"/>
              <a:chExt cx="1486732" cy="1486732"/>
            </a:xfrm>
          </p:grpSpPr>
          <p:sp>
            <p:nvSpPr>
              <p:cNvPr id="6" name="任意多边形 5"/>
              <p:cNvSpPr/>
              <p:nvPr/>
            </p:nvSpPr>
            <p:spPr>
              <a:xfrm>
                <a:off x="4120685" y="2867811"/>
                <a:ext cx="965298" cy="364514"/>
              </a:xfrm>
              <a:custGeom>
                <a:avLst/>
                <a:gdLst>
                  <a:gd name="connsiteX0" fmla="*/ 482649 w 965298"/>
                  <a:gd name="connsiteY0" fmla="*/ 0 h 364514"/>
                  <a:gd name="connsiteX1" fmla="*/ 898272 w 965298"/>
                  <a:gd name="connsiteY1" fmla="*/ 126955 h 364514"/>
                  <a:gd name="connsiteX2" fmla="*/ 965298 w 965298"/>
                  <a:gd name="connsiteY2" fmla="*/ 182257 h 364514"/>
                  <a:gd name="connsiteX3" fmla="*/ 898272 w 965298"/>
                  <a:gd name="connsiteY3" fmla="*/ 237559 h 364514"/>
                  <a:gd name="connsiteX4" fmla="*/ 482649 w 965298"/>
                  <a:gd name="connsiteY4" fmla="*/ 364514 h 364514"/>
                  <a:gd name="connsiteX5" fmla="*/ 67026 w 965298"/>
                  <a:gd name="connsiteY5" fmla="*/ 237559 h 364514"/>
                  <a:gd name="connsiteX6" fmla="*/ 0 w 965298"/>
                  <a:gd name="connsiteY6" fmla="*/ 182257 h 364514"/>
                  <a:gd name="connsiteX7" fmla="*/ 67026 w 965298"/>
                  <a:gd name="connsiteY7" fmla="*/ 126955 h 364514"/>
                  <a:gd name="connsiteX8" fmla="*/ 482649 w 965298"/>
                  <a:gd name="connsiteY8" fmla="*/ 0 h 364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5298" h="364514">
                    <a:moveTo>
                      <a:pt x="482649" y="0"/>
                    </a:moveTo>
                    <a:cubicBezTo>
                      <a:pt x="636605" y="0"/>
                      <a:pt x="779630" y="46802"/>
                      <a:pt x="898272" y="126955"/>
                    </a:cubicBezTo>
                    <a:lnTo>
                      <a:pt x="965298" y="182257"/>
                    </a:lnTo>
                    <a:lnTo>
                      <a:pt x="898272" y="237559"/>
                    </a:lnTo>
                    <a:cubicBezTo>
                      <a:pt x="779630" y="317712"/>
                      <a:pt x="636605" y="364514"/>
                      <a:pt x="482649" y="364514"/>
                    </a:cubicBezTo>
                    <a:cubicBezTo>
                      <a:pt x="328693" y="364514"/>
                      <a:pt x="185668" y="317712"/>
                      <a:pt x="67026" y="237559"/>
                    </a:cubicBezTo>
                    <a:lnTo>
                      <a:pt x="0" y="182257"/>
                    </a:lnTo>
                    <a:lnTo>
                      <a:pt x="67026" y="126955"/>
                    </a:lnTo>
                    <a:cubicBezTo>
                      <a:pt x="185668" y="46802"/>
                      <a:pt x="328693" y="0"/>
                      <a:pt x="482649" y="0"/>
                    </a:cubicBezTo>
                    <a:close/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zh-CN" altLang="en-US"/>
              </a:p>
            </p:txBody>
          </p:sp>
          <p:sp>
            <p:nvSpPr>
              <p:cNvPr id="7" name="任意多边形 6"/>
              <p:cNvSpPr/>
              <p:nvPr/>
            </p:nvSpPr>
            <p:spPr>
              <a:xfrm>
                <a:off x="3859968" y="3081420"/>
                <a:ext cx="458032" cy="1069907"/>
              </a:xfrm>
              <a:custGeom>
                <a:avLst/>
                <a:gdLst>
                  <a:gd name="connsiteX0" fmla="*/ 222719 w 458032"/>
                  <a:gd name="connsiteY0" fmla="*/ 0 h 1069907"/>
                  <a:gd name="connsiteX1" fmla="*/ 240305 w 458032"/>
                  <a:gd name="connsiteY1" fmla="*/ 14510 h 1069907"/>
                  <a:gd name="connsiteX2" fmla="*/ 458032 w 458032"/>
                  <a:gd name="connsiteY2" fmla="*/ 540149 h 1069907"/>
                  <a:gd name="connsiteX3" fmla="*/ 240305 w 458032"/>
                  <a:gd name="connsiteY3" fmla="*/ 1065788 h 1069907"/>
                  <a:gd name="connsiteX4" fmla="*/ 235313 w 458032"/>
                  <a:gd name="connsiteY4" fmla="*/ 1069907 h 1069907"/>
                  <a:gd name="connsiteX5" fmla="*/ 217727 w 458032"/>
                  <a:gd name="connsiteY5" fmla="*/ 1055397 h 1069907"/>
                  <a:gd name="connsiteX6" fmla="*/ 0 w 458032"/>
                  <a:gd name="connsiteY6" fmla="*/ 529758 h 1069907"/>
                  <a:gd name="connsiteX7" fmla="*/ 217727 w 458032"/>
                  <a:gd name="connsiteY7" fmla="*/ 4119 h 1069907"/>
                  <a:gd name="connsiteX8" fmla="*/ 222719 w 458032"/>
                  <a:gd name="connsiteY8" fmla="*/ 0 h 1069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8032" h="1069907">
                    <a:moveTo>
                      <a:pt x="222719" y="0"/>
                    </a:moveTo>
                    <a:lnTo>
                      <a:pt x="240305" y="14510"/>
                    </a:lnTo>
                    <a:cubicBezTo>
                      <a:pt x="374828" y="149033"/>
                      <a:pt x="458032" y="334874"/>
                      <a:pt x="458032" y="540149"/>
                    </a:cubicBezTo>
                    <a:cubicBezTo>
                      <a:pt x="458032" y="745424"/>
                      <a:pt x="374828" y="931266"/>
                      <a:pt x="240305" y="1065788"/>
                    </a:cubicBezTo>
                    <a:lnTo>
                      <a:pt x="235313" y="1069907"/>
                    </a:lnTo>
                    <a:lnTo>
                      <a:pt x="217727" y="1055397"/>
                    </a:lnTo>
                    <a:cubicBezTo>
                      <a:pt x="83204" y="920875"/>
                      <a:pt x="0" y="735033"/>
                      <a:pt x="0" y="529758"/>
                    </a:cubicBezTo>
                    <a:cubicBezTo>
                      <a:pt x="0" y="324483"/>
                      <a:pt x="83204" y="138642"/>
                      <a:pt x="217727" y="4119"/>
                    </a:cubicBezTo>
                    <a:lnTo>
                      <a:pt x="222719" y="0"/>
                    </a:lnTo>
                    <a:close/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zh-CN" altLang="en-US"/>
              </a:p>
            </p:txBody>
          </p:sp>
          <p:sp>
            <p:nvSpPr>
              <p:cNvPr id="8" name="任意多边形 7"/>
              <p:cNvSpPr/>
              <p:nvPr/>
            </p:nvSpPr>
            <p:spPr>
              <a:xfrm>
                <a:off x="4888668" y="3081420"/>
                <a:ext cx="458032" cy="1069907"/>
              </a:xfrm>
              <a:custGeom>
                <a:avLst/>
                <a:gdLst>
                  <a:gd name="connsiteX0" fmla="*/ 235313 w 458032"/>
                  <a:gd name="connsiteY0" fmla="*/ 0 h 1069907"/>
                  <a:gd name="connsiteX1" fmla="*/ 240305 w 458032"/>
                  <a:gd name="connsiteY1" fmla="*/ 4119 h 1069907"/>
                  <a:gd name="connsiteX2" fmla="*/ 458032 w 458032"/>
                  <a:gd name="connsiteY2" fmla="*/ 529758 h 1069907"/>
                  <a:gd name="connsiteX3" fmla="*/ 240305 w 458032"/>
                  <a:gd name="connsiteY3" fmla="*/ 1055397 h 1069907"/>
                  <a:gd name="connsiteX4" fmla="*/ 222719 w 458032"/>
                  <a:gd name="connsiteY4" fmla="*/ 1069907 h 1069907"/>
                  <a:gd name="connsiteX5" fmla="*/ 217727 w 458032"/>
                  <a:gd name="connsiteY5" fmla="*/ 1065788 h 1069907"/>
                  <a:gd name="connsiteX6" fmla="*/ 0 w 458032"/>
                  <a:gd name="connsiteY6" fmla="*/ 540149 h 1069907"/>
                  <a:gd name="connsiteX7" fmla="*/ 217727 w 458032"/>
                  <a:gd name="connsiteY7" fmla="*/ 14510 h 1069907"/>
                  <a:gd name="connsiteX8" fmla="*/ 235313 w 458032"/>
                  <a:gd name="connsiteY8" fmla="*/ 0 h 1069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8032" h="1069907">
                    <a:moveTo>
                      <a:pt x="235313" y="0"/>
                    </a:moveTo>
                    <a:lnTo>
                      <a:pt x="240305" y="4119"/>
                    </a:lnTo>
                    <a:cubicBezTo>
                      <a:pt x="374828" y="138642"/>
                      <a:pt x="458032" y="324483"/>
                      <a:pt x="458032" y="529758"/>
                    </a:cubicBezTo>
                    <a:cubicBezTo>
                      <a:pt x="458032" y="735033"/>
                      <a:pt x="374828" y="920875"/>
                      <a:pt x="240305" y="1055397"/>
                    </a:cubicBezTo>
                    <a:lnTo>
                      <a:pt x="222719" y="1069907"/>
                    </a:lnTo>
                    <a:lnTo>
                      <a:pt x="217727" y="1065788"/>
                    </a:lnTo>
                    <a:cubicBezTo>
                      <a:pt x="83204" y="931266"/>
                      <a:pt x="0" y="745424"/>
                      <a:pt x="0" y="540149"/>
                    </a:cubicBezTo>
                    <a:cubicBezTo>
                      <a:pt x="0" y="334874"/>
                      <a:pt x="83204" y="149033"/>
                      <a:pt x="217727" y="14510"/>
                    </a:cubicBezTo>
                    <a:lnTo>
                      <a:pt x="235313" y="0"/>
                    </a:lnTo>
                    <a:close/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zh-CN" altLang="en-US"/>
              </a:p>
            </p:txBody>
          </p:sp>
          <p:sp>
            <p:nvSpPr>
              <p:cNvPr id="9" name="任意多边形 8"/>
              <p:cNvSpPr/>
              <p:nvPr/>
            </p:nvSpPr>
            <p:spPr>
              <a:xfrm>
                <a:off x="4126176" y="3999091"/>
                <a:ext cx="954316" cy="355452"/>
              </a:xfrm>
              <a:custGeom>
                <a:avLst/>
                <a:gdLst>
                  <a:gd name="connsiteX0" fmla="*/ 477158 w 954316"/>
                  <a:gd name="connsiteY0" fmla="*/ 0 h 355452"/>
                  <a:gd name="connsiteX1" fmla="*/ 892781 w 954316"/>
                  <a:gd name="connsiteY1" fmla="*/ 126955 h 355452"/>
                  <a:gd name="connsiteX2" fmla="*/ 954316 w 954316"/>
                  <a:gd name="connsiteY2" fmla="*/ 177726 h 355452"/>
                  <a:gd name="connsiteX3" fmla="*/ 892781 w 954316"/>
                  <a:gd name="connsiteY3" fmla="*/ 228497 h 355452"/>
                  <a:gd name="connsiteX4" fmla="*/ 477158 w 954316"/>
                  <a:gd name="connsiteY4" fmla="*/ 355452 h 355452"/>
                  <a:gd name="connsiteX5" fmla="*/ 61535 w 954316"/>
                  <a:gd name="connsiteY5" fmla="*/ 228497 h 355452"/>
                  <a:gd name="connsiteX6" fmla="*/ 0 w 954316"/>
                  <a:gd name="connsiteY6" fmla="*/ 177726 h 355452"/>
                  <a:gd name="connsiteX7" fmla="*/ 61535 w 954316"/>
                  <a:gd name="connsiteY7" fmla="*/ 126955 h 355452"/>
                  <a:gd name="connsiteX8" fmla="*/ 477158 w 954316"/>
                  <a:gd name="connsiteY8" fmla="*/ 0 h 355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4316" h="355452">
                    <a:moveTo>
                      <a:pt x="477158" y="0"/>
                    </a:moveTo>
                    <a:cubicBezTo>
                      <a:pt x="631114" y="0"/>
                      <a:pt x="774139" y="46802"/>
                      <a:pt x="892781" y="126955"/>
                    </a:cubicBezTo>
                    <a:lnTo>
                      <a:pt x="954316" y="177726"/>
                    </a:lnTo>
                    <a:lnTo>
                      <a:pt x="892781" y="228497"/>
                    </a:lnTo>
                    <a:cubicBezTo>
                      <a:pt x="774139" y="308650"/>
                      <a:pt x="631114" y="355452"/>
                      <a:pt x="477158" y="355452"/>
                    </a:cubicBezTo>
                    <a:cubicBezTo>
                      <a:pt x="323202" y="355452"/>
                      <a:pt x="180177" y="308650"/>
                      <a:pt x="61535" y="228497"/>
                    </a:cubicBezTo>
                    <a:lnTo>
                      <a:pt x="0" y="177726"/>
                    </a:lnTo>
                    <a:lnTo>
                      <a:pt x="61535" y="126955"/>
                    </a:lnTo>
                    <a:cubicBezTo>
                      <a:pt x="180177" y="46802"/>
                      <a:pt x="323202" y="0"/>
                      <a:pt x="477158" y="0"/>
                    </a:cubicBezTo>
                    <a:close/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zh-CN" altLang="en-US"/>
              </a:p>
            </p:txBody>
          </p:sp>
          <p:sp>
            <p:nvSpPr>
              <p:cNvPr id="10" name="任意多边形 9"/>
              <p:cNvSpPr/>
              <p:nvPr/>
            </p:nvSpPr>
            <p:spPr>
              <a:xfrm>
                <a:off x="4082687" y="3050069"/>
                <a:ext cx="1041294" cy="1126749"/>
              </a:xfrm>
              <a:custGeom>
                <a:avLst/>
                <a:gdLst>
                  <a:gd name="connsiteX0" fmla="*/ 37998 w 1041294"/>
                  <a:gd name="connsiteY0" fmla="*/ 0 h 1126749"/>
                  <a:gd name="connsiteX1" fmla="*/ 105024 w 1041294"/>
                  <a:gd name="connsiteY1" fmla="*/ 55302 h 1126749"/>
                  <a:gd name="connsiteX2" fmla="*/ 520647 w 1041294"/>
                  <a:gd name="connsiteY2" fmla="*/ 182257 h 1126749"/>
                  <a:gd name="connsiteX3" fmla="*/ 936270 w 1041294"/>
                  <a:gd name="connsiteY3" fmla="*/ 55302 h 1126749"/>
                  <a:gd name="connsiteX4" fmla="*/ 1003296 w 1041294"/>
                  <a:gd name="connsiteY4" fmla="*/ 0 h 1126749"/>
                  <a:gd name="connsiteX5" fmla="*/ 1041294 w 1041294"/>
                  <a:gd name="connsiteY5" fmla="*/ 31351 h 1126749"/>
                  <a:gd name="connsiteX6" fmla="*/ 1023708 w 1041294"/>
                  <a:gd name="connsiteY6" fmla="*/ 45861 h 1126749"/>
                  <a:gd name="connsiteX7" fmla="*/ 805981 w 1041294"/>
                  <a:gd name="connsiteY7" fmla="*/ 571500 h 1126749"/>
                  <a:gd name="connsiteX8" fmla="*/ 1023708 w 1041294"/>
                  <a:gd name="connsiteY8" fmla="*/ 1097139 h 1126749"/>
                  <a:gd name="connsiteX9" fmla="*/ 1028700 w 1041294"/>
                  <a:gd name="connsiteY9" fmla="*/ 1101258 h 1126749"/>
                  <a:gd name="connsiteX10" fmla="*/ 997805 w 1041294"/>
                  <a:gd name="connsiteY10" fmla="*/ 1126749 h 1126749"/>
                  <a:gd name="connsiteX11" fmla="*/ 936270 w 1041294"/>
                  <a:gd name="connsiteY11" fmla="*/ 1075978 h 1126749"/>
                  <a:gd name="connsiteX12" fmla="*/ 520647 w 1041294"/>
                  <a:gd name="connsiteY12" fmla="*/ 949023 h 1126749"/>
                  <a:gd name="connsiteX13" fmla="*/ 105024 w 1041294"/>
                  <a:gd name="connsiteY13" fmla="*/ 1075978 h 1126749"/>
                  <a:gd name="connsiteX14" fmla="*/ 43489 w 1041294"/>
                  <a:gd name="connsiteY14" fmla="*/ 1126749 h 1126749"/>
                  <a:gd name="connsiteX15" fmla="*/ 12594 w 1041294"/>
                  <a:gd name="connsiteY15" fmla="*/ 1101258 h 1126749"/>
                  <a:gd name="connsiteX16" fmla="*/ 17586 w 1041294"/>
                  <a:gd name="connsiteY16" fmla="*/ 1097139 h 1126749"/>
                  <a:gd name="connsiteX17" fmla="*/ 235313 w 1041294"/>
                  <a:gd name="connsiteY17" fmla="*/ 571500 h 1126749"/>
                  <a:gd name="connsiteX18" fmla="*/ 17586 w 1041294"/>
                  <a:gd name="connsiteY18" fmla="*/ 45861 h 1126749"/>
                  <a:gd name="connsiteX19" fmla="*/ 0 w 1041294"/>
                  <a:gd name="connsiteY19" fmla="*/ 31351 h 1126749"/>
                  <a:gd name="connsiteX20" fmla="*/ 37998 w 1041294"/>
                  <a:gd name="connsiteY20" fmla="*/ 0 h 1126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041294" h="1126749">
                    <a:moveTo>
                      <a:pt x="37998" y="0"/>
                    </a:moveTo>
                    <a:lnTo>
                      <a:pt x="105024" y="55302"/>
                    </a:lnTo>
                    <a:cubicBezTo>
                      <a:pt x="223666" y="135455"/>
                      <a:pt x="366691" y="182257"/>
                      <a:pt x="520647" y="182257"/>
                    </a:cubicBezTo>
                    <a:cubicBezTo>
                      <a:pt x="674603" y="182257"/>
                      <a:pt x="817628" y="135455"/>
                      <a:pt x="936270" y="55302"/>
                    </a:cubicBezTo>
                    <a:lnTo>
                      <a:pt x="1003296" y="0"/>
                    </a:lnTo>
                    <a:lnTo>
                      <a:pt x="1041294" y="31351"/>
                    </a:lnTo>
                    <a:lnTo>
                      <a:pt x="1023708" y="45861"/>
                    </a:lnTo>
                    <a:cubicBezTo>
                      <a:pt x="889185" y="180384"/>
                      <a:pt x="805981" y="366225"/>
                      <a:pt x="805981" y="571500"/>
                    </a:cubicBezTo>
                    <a:cubicBezTo>
                      <a:pt x="805981" y="776775"/>
                      <a:pt x="889185" y="962617"/>
                      <a:pt x="1023708" y="1097139"/>
                    </a:cubicBezTo>
                    <a:lnTo>
                      <a:pt x="1028700" y="1101258"/>
                    </a:lnTo>
                    <a:lnTo>
                      <a:pt x="997805" y="1126749"/>
                    </a:lnTo>
                    <a:lnTo>
                      <a:pt x="936270" y="1075978"/>
                    </a:lnTo>
                    <a:cubicBezTo>
                      <a:pt x="817628" y="995825"/>
                      <a:pt x="674603" y="949023"/>
                      <a:pt x="520647" y="949023"/>
                    </a:cubicBezTo>
                    <a:cubicBezTo>
                      <a:pt x="366691" y="949023"/>
                      <a:pt x="223666" y="995825"/>
                      <a:pt x="105024" y="1075978"/>
                    </a:cubicBezTo>
                    <a:lnTo>
                      <a:pt x="43489" y="1126749"/>
                    </a:lnTo>
                    <a:lnTo>
                      <a:pt x="12594" y="1101258"/>
                    </a:lnTo>
                    <a:lnTo>
                      <a:pt x="17586" y="1097139"/>
                    </a:lnTo>
                    <a:cubicBezTo>
                      <a:pt x="152109" y="962617"/>
                      <a:pt x="235313" y="776775"/>
                      <a:pt x="235313" y="571500"/>
                    </a:cubicBezTo>
                    <a:cubicBezTo>
                      <a:pt x="235313" y="366225"/>
                      <a:pt x="152109" y="180384"/>
                      <a:pt x="17586" y="45861"/>
                    </a:cubicBezTo>
                    <a:lnTo>
                      <a:pt x="0" y="31351"/>
                    </a:lnTo>
                    <a:lnTo>
                      <a:pt x="37998" y="0"/>
                    </a:lnTo>
                    <a:close/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zh-CN" altLang="en-US"/>
              </a:p>
            </p:txBody>
          </p:sp>
        </p:grpSp>
        <p:cxnSp>
          <p:nvCxnSpPr>
            <p:cNvPr id="12" name="直接连接符 11"/>
            <p:cNvCxnSpPr>
              <a:stCxn id="8" idx="2"/>
            </p:cNvCxnSpPr>
            <p:nvPr/>
          </p:nvCxnSpPr>
          <p:spPr>
            <a:xfrm>
              <a:off x="6396920" y="3429000"/>
              <a:ext cx="3661480" cy="0"/>
            </a:xfrm>
            <a:prstGeom prst="line">
              <a:avLst/>
            </a:prstGeom>
            <a:ln w="66675" cmpd="dbl">
              <a:gradFill>
                <a:gsLst>
                  <a:gs pos="0">
                    <a:schemeClr val="accent1"/>
                  </a:gs>
                  <a:gs pos="100000">
                    <a:schemeClr val="accent3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2133600" y="3429000"/>
              <a:ext cx="3661480" cy="0"/>
            </a:xfrm>
            <a:prstGeom prst="line">
              <a:avLst/>
            </a:prstGeom>
            <a:ln w="66675" cmpd="dbl">
              <a:gradFill>
                <a:gsLst>
                  <a:gs pos="100000">
                    <a:schemeClr val="accent1"/>
                  </a:gs>
                  <a:gs pos="0">
                    <a:schemeClr val="accent3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106390" y="870595"/>
              <a:ext cx="6927" cy="2276025"/>
            </a:xfrm>
            <a:prstGeom prst="line">
              <a:avLst/>
            </a:prstGeom>
            <a:ln w="66675" cmpd="dbl">
              <a:gradFill>
                <a:gsLst>
                  <a:gs pos="100000">
                    <a:schemeClr val="accent1"/>
                  </a:gs>
                  <a:gs pos="1000">
                    <a:schemeClr val="accent3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îṣľíḍè"/>
          <p:cNvSpPr/>
          <p:nvPr/>
        </p:nvSpPr>
        <p:spPr>
          <a:xfrm>
            <a:off x="6457315" y="1612900"/>
            <a:ext cx="4747260" cy="2212340"/>
          </a:xfrm>
          <a:prstGeom prst="rect">
            <a:avLst/>
          </a:prstGeom>
          <a:noFill/>
          <a:ln w="12700" cap="rnd">
            <a:solidFill>
              <a:schemeClr val="bg1">
                <a:lumMod val="85000"/>
              </a:scheme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添加植物 </a:t>
            </a:r>
            <a:r>
              <a:rPr lang="en-US" altLang="zh-CN" sz="1400" spc="100" dirty="0">
                <a:solidFill>
                  <a:schemeClr val="tx1"/>
                </a:solidFill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</a:rPr>
              <a:t>从品种库选择并个性化命名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植物列表 </a:t>
            </a:r>
            <a:r>
              <a:rPr lang="en-US" altLang="zh-CN" sz="1400" spc="100" dirty="0">
                <a:solidFill>
                  <a:schemeClr val="tx1"/>
                </a:solidFill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</a:rPr>
              <a:t>查看所有植物及状态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植物详情 </a:t>
            </a:r>
            <a:r>
              <a:rPr lang="en-US" altLang="zh-CN" sz="1400" spc="100" dirty="0">
                <a:solidFill>
                  <a:schemeClr val="tx1"/>
                </a:solidFill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</a:rPr>
              <a:t>查看完整信息和养护记录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编辑删除 </a:t>
            </a:r>
            <a:r>
              <a:rPr lang="en-US" altLang="zh-CN" sz="1400" spc="100" dirty="0">
                <a:solidFill>
                  <a:schemeClr val="tx1"/>
                </a:solidFill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</a:rPr>
              <a:t>更新信息和移除植物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7607935" y="1196975"/>
            <a:ext cx="2180590" cy="460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/>
              <a:t>我的植物</a:t>
            </a:r>
          </a:p>
        </p:txBody>
      </p:sp>
      <p:sp>
        <p:nvSpPr>
          <p:cNvPr id="47" name="任意多边形 46"/>
          <p:cNvSpPr/>
          <p:nvPr/>
        </p:nvSpPr>
        <p:spPr>
          <a:xfrm>
            <a:off x="6950249" y="1283907"/>
            <a:ext cx="534457" cy="639650"/>
          </a:xfrm>
          <a:custGeom>
            <a:avLst/>
            <a:gdLst>
              <a:gd name="connsiteX0" fmla="*/ 907735 w 2501585"/>
              <a:gd name="connsiteY0" fmla="*/ 0 h 2993951"/>
              <a:gd name="connsiteX1" fmla="*/ 1593535 w 2501585"/>
              <a:gd name="connsiteY1" fmla="*/ 0 h 2993951"/>
              <a:gd name="connsiteX2" fmla="*/ 1593535 w 2501585"/>
              <a:gd name="connsiteY2" fmla="*/ 630768 h 2993951"/>
              <a:gd name="connsiteX3" fmla="*/ 2258915 w 2501585"/>
              <a:gd name="connsiteY3" fmla="*/ 630768 h 2993951"/>
              <a:gd name="connsiteX4" fmla="*/ 2501585 w 2501585"/>
              <a:gd name="connsiteY4" fmla="*/ 2991942 h 2993951"/>
              <a:gd name="connsiteX5" fmla="*/ 2498637 w 2501585"/>
              <a:gd name="connsiteY5" fmla="*/ 2991957 h 2993951"/>
              <a:gd name="connsiteX6" fmla="*/ 2388969 w 2501585"/>
              <a:gd name="connsiteY6" fmla="*/ 2908347 h 2993951"/>
              <a:gd name="connsiteX7" fmla="*/ 1250730 w 2501585"/>
              <a:gd name="connsiteY7" fmla="*/ 2586105 h 2993951"/>
              <a:gd name="connsiteX8" fmla="*/ 112515 w 2501585"/>
              <a:gd name="connsiteY8" fmla="*/ 2908203 h 2993951"/>
              <a:gd name="connsiteX9" fmla="*/ 0 w 2501585"/>
              <a:gd name="connsiteY9" fmla="*/ 2993951 h 2993951"/>
              <a:gd name="connsiteX10" fmla="*/ 17491 w 2501585"/>
              <a:gd name="connsiteY10" fmla="*/ 2397284 h 2993951"/>
              <a:gd name="connsiteX11" fmla="*/ 242356 w 2501585"/>
              <a:gd name="connsiteY11" fmla="*/ 630768 h 2993951"/>
              <a:gd name="connsiteX12" fmla="*/ 907735 w 2501585"/>
              <a:gd name="connsiteY12" fmla="*/ 630768 h 299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01585" h="2993951">
                <a:moveTo>
                  <a:pt x="907735" y="0"/>
                </a:moveTo>
                <a:lnTo>
                  <a:pt x="1593535" y="0"/>
                </a:lnTo>
                <a:lnTo>
                  <a:pt x="1593535" y="630768"/>
                </a:lnTo>
                <a:lnTo>
                  <a:pt x="2258915" y="630768"/>
                </a:lnTo>
                <a:cubicBezTo>
                  <a:pt x="2462572" y="1429115"/>
                  <a:pt x="2458795" y="2176662"/>
                  <a:pt x="2501585" y="2991942"/>
                </a:cubicBezTo>
                <a:lnTo>
                  <a:pt x="2498637" y="2991957"/>
                </a:lnTo>
                <a:lnTo>
                  <a:pt x="2388969" y="2908347"/>
                </a:lnTo>
                <a:cubicBezTo>
                  <a:pt x="2087559" y="2703075"/>
                  <a:pt x="1679209" y="2586123"/>
                  <a:pt x="1250730" y="2586105"/>
                </a:cubicBezTo>
                <a:cubicBezTo>
                  <a:pt x="822290" y="2586089"/>
                  <a:pt x="413953" y="2702987"/>
                  <a:pt x="112515" y="2908203"/>
                </a:cubicBezTo>
                <a:lnTo>
                  <a:pt x="0" y="2993951"/>
                </a:lnTo>
                <a:lnTo>
                  <a:pt x="17491" y="2397284"/>
                </a:lnTo>
                <a:cubicBezTo>
                  <a:pt x="37678" y="1803682"/>
                  <a:pt x="76914" y="1242228"/>
                  <a:pt x="242356" y="630768"/>
                </a:cubicBezTo>
                <a:lnTo>
                  <a:pt x="907735" y="6307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02</a:t>
            </a:r>
            <a:endParaRPr lang="zh-CN" altLang="en-US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2868165" y="3907571"/>
            <a:ext cx="1891145" cy="460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/>
              <a:t>养护中心</a:t>
            </a:r>
          </a:p>
        </p:txBody>
      </p:sp>
      <p:sp>
        <p:nvSpPr>
          <p:cNvPr id="86" name="任意多边形 85"/>
          <p:cNvSpPr/>
          <p:nvPr/>
        </p:nvSpPr>
        <p:spPr>
          <a:xfrm>
            <a:off x="2134558" y="3788781"/>
            <a:ext cx="534457" cy="639650"/>
          </a:xfrm>
          <a:custGeom>
            <a:avLst/>
            <a:gdLst>
              <a:gd name="connsiteX0" fmla="*/ 907735 w 2501585"/>
              <a:gd name="connsiteY0" fmla="*/ 0 h 2993951"/>
              <a:gd name="connsiteX1" fmla="*/ 1593535 w 2501585"/>
              <a:gd name="connsiteY1" fmla="*/ 0 h 2993951"/>
              <a:gd name="connsiteX2" fmla="*/ 1593535 w 2501585"/>
              <a:gd name="connsiteY2" fmla="*/ 630768 h 2993951"/>
              <a:gd name="connsiteX3" fmla="*/ 2258915 w 2501585"/>
              <a:gd name="connsiteY3" fmla="*/ 630768 h 2993951"/>
              <a:gd name="connsiteX4" fmla="*/ 2501585 w 2501585"/>
              <a:gd name="connsiteY4" fmla="*/ 2991942 h 2993951"/>
              <a:gd name="connsiteX5" fmla="*/ 2498637 w 2501585"/>
              <a:gd name="connsiteY5" fmla="*/ 2991957 h 2993951"/>
              <a:gd name="connsiteX6" fmla="*/ 2388969 w 2501585"/>
              <a:gd name="connsiteY6" fmla="*/ 2908347 h 2993951"/>
              <a:gd name="connsiteX7" fmla="*/ 1250730 w 2501585"/>
              <a:gd name="connsiteY7" fmla="*/ 2586105 h 2993951"/>
              <a:gd name="connsiteX8" fmla="*/ 112515 w 2501585"/>
              <a:gd name="connsiteY8" fmla="*/ 2908203 h 2993951"/>
              <a:gd name="connsiteX9" fmla="*/ 0 w 2501585"/>
              <a:gd name="connsiteY9" fmla="*/ 2993951 h 2993951"/>
              <a:gd name="connsiteX10" fmla="*/ 17491 w 2501585"/>
              <a:gd name="connsiteY10" fmla="*/ 2397284 h 2993951"/>
              <a:gd name="connsiteX11" fmla="*/ 242356 w 2501585"/>
              <a:gd name="connsiteY11" fmla="*/ 630768 h 2993951"/>
              <a:gd name="connsiteX12" fmla="*/ 907735 w 2501585"/>
              <a:gd name="connsiteY12" fmla="*/ 630768 h 299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01585" h="2993951">
                <a:moveTo>
                  <a:pt x="907735" y="0"/>
                </a:moveTo>
                <a:lnTo>
                  <a:pt x="1593535" y="0"/>
                </a:lnTo>
                <a:lnTo>
                  <a:pt x="1593535" y="630768"/>
                </a:lnTo>
                <a:lnTo>
                  <a:pt x="2258915" y="630768"/>
                </a:lnTo>
                <a:cubicBezTo>
                  <a:pt x="2462572" y="1429115"/>
                  <a:pt x="2458795" y="2176662"/>
                  <a:pt x="2501585" y="2991942"/>
                </a:cubicBezTo>
                <a:lnTo>
                  <a:pt x="2498637" y="2991957"/>
                </a:lnTo>
                <a:lnTo>
                  <a:pt x="2388969" y="2908347"/>
                </a:lnTo>
                <a:cubicBezTo>
                  <a:pt x="2087559" y="2703075"/>
                  <a:pt x="1679209" y="2586123"/>
                  <a:pt x="1250730" y="2586105"/>
                </a:cubicBezTo>
                <a:cubicBezTo>
                  <a:pt x="822290" y="2586089"/>
                  <a:pt x="413953" y="2702987"/>
                  <a:pt x="112515" y="2908203"/>
                </a:cubicBezTo>
                <a:lnTo>
                  <a:pt x="0" y="2993951"/>
                </a:lnTo>
                <a:lnTo>
                  <a:pt x="17491" y="2397284"/>
                </a:lnTo>
                <a:cubicBezTo>
                  <a:pt x="37678" y="1803682"/>
                  <a:pt x="76914" y="1242228"/>
                  <a:pt x="242356" y="630768"/>
                </a:cubicBezTo>
                <a:lnTo>
                  <a:pt x="907735" y="6307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03</a:t>
            </a:r>
            <a:endParaRPr lang="zh-CN" altLang="en-US" b="1" dirty="0"/>
          </a:p>
        </p:txBody>
      </p:sp>
      <p:sp>
        <p:nvSpPr>
          <p:cNvPr id="11" name="îṣľíḍè"/>
          <p:cNvSpPr/>
          <p:nvPr/>
        </p:nvSpPr>
        <p:spPr>
          <a:xfrm>
            <a:off x="1700827" y="4345414"/>
            <a:ext cx="4100579" cy="1831295"/>
          </a:xfrm>
          <a:prstGeom prst="rect">
            <a:avLst/>
          </a:prstGeom>
          <a:noFill/>
          <a:ln w="12700" cap="rnd">
            <a:solidFill>
              <a:schemeClr val="bg1">
                <a:lumMod val="85000"/>
              </a:scheme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  <a:sym typeface="+mn-ea"/>
              </a:rPr>
              <a:t>智能提醒 </a:t>
            </a:r>
            <a:r>
              <a:rPr lang="en-US" altLang="zh-CN" sz="1400" spc="100" dirty="0">
                <a:solidFill>
                  <a:schemeClr val="tx1"/>
                </a:solidFill>
                <a:sym typeface="+mn-ea"/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  <a:sym typeface="+mn-ea"/>
              </a:rPr>
              <a:t>自动计算浇水、施肥等养护时间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  <a:sym typeface="+mn-ea"/>
              </a:rPr>
              <a:t>快速记录 </a:t>
            </a:r>
            <a:r>
              <a:rPr lang="en-US" altLang="zh-CN" sz="1400" spc="100" dirty="0">
                <a:solidFill>
                  <a:schemeClr val="tx1"/>
                </a:solidFill>
                <a:sym typeface="+mn-ea"/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  <a:sym typeface="+mn-ea"/>
              </a:rPr>
              <a:t>一键完成常见养护操作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  <a:sym typeface="+mn-ea"/>
              </a:rPr>
              <a:t>详细记录 </a:t>
            </a:r>
            <a:r>
              <a:rPr lang="en-US" altLang="zh-CN" sz="1400" spc="100" dirty="0">
                <a:solidFill>
                  <a:schemeClr val="tx1"/>
                </a:solidFill>
                <a:sym typeface="+mn-ea"/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  <a:sym typeface="+mn-ea"/>
              </a:rPr>
              <a:t>完整记录养护过程和效果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  <a:sym typeface="+mn-ea"/>
              </a:rPr>
              <a:t>养护历史 </a:t>
            </a:r>
            <a:r>
              <a:rPr lang="en-US" altLang="zh-CN" sz="1400" spc="100" dirty="0">
                <a:solidFill>
                  <a:schemeClr val="tx1"/>
                </a:solidFill>
                <a:sym typeface="+mn-ea"/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  <a:sym typeface="+mn-ea"/>
              </a:rPr>
              <a:t>查看所有养护记录时间线</a:t>
            </a:r>
            <a:endParaRPr lang="zh-CN" altLang="en-US" sz="1400" spc="100" dirty="0">
              <a:solidFill>
                <a:schemeClr val="tx1"/>
              </a:solidFill>
            </a:endParaRPr>
          </a:p>
        </p:txBody>
      </p:sp>
      <p:sp>
        <p:nvSpPr>
          <p:cNvPr id="13" name="îṣľíḍè"/>
          <p:cNvSpPr/>
          <p:nvPr/>
        </p:nvSpPr>
        <p:spPr>
          <a:xfrm>
            <a:off x="6456045" y="4399916"/>
            <a:ext cx="4747260" cy="1776794"/>
          </a:xfrm>
          <a:prstGeom prst="rect">
            <a:avLst/>
          </a:prstGeom>
          <a:noFill/>
          <a:ln w="12700" cap="rnd">
            <a:solidFill>
              <a:schemeClr val="bg1">
                <a:lumMod val="85000"/>
              </a:scheme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记录数据 </a:t>
            </a:r>
            <a:r>
              <a:rPr lang="en-US" altLang="zh-CN" sz="1400" spc="100" dirty="0">
                <a:solidFill>
                  <a:schemeClr val="tx1"/>
                </a:solidFill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</a:rPr>
              <a:t>定期记录高度、叶片数等生长数据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生长图表 </a:t>
            </a:r>
            <a:r>
              <a:rPr lang="en-US" altLang="zh-CN" sz="1400" spc="100" dirty="0">
                <a:solidFill>
                  <a:schemeClr val="tx1"/>
                </a:solidFill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</a:rPr>
              <a:t>可视化展示生长趋势曲线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健康评分 </a:t>
            </a:r>
            <a:r>
              <a:rPr lang="en-US" altLang="zh-CN" sz="1400" spc="100" dirty="0">
                <a:solidFill>
                  <a:schemeClr val="tx1"/>
                </a:solidFill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</a:rPr>
              <a:t>量化评估植物健康状况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趋势分析 </a:t>
            </a:r>
            <a:r>
              <a:rPr lang="en-US" altLang="zh-CN" sz="1400" spc="100" dirty="0">
                <a:solidFill>
                  <a:schemeClr val="tx1"/>
                </a:solidFill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</a:rPr>
              <a:t>分析生长速度和变化规律</a:t>
            </a:r>
            <a:endParaRPr lang="en-US" altLang="zh-CN" sz="1400" spc="100" dirty="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07935" y="3974465"/>
            <a:ext cx="2180590" cy="425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/>
              <a:t>生长追踪</a:t>
            </a:r>
          </a:p>
        </p:txBody>
      </p:sp>
      <p:sp>
        <p:nvSpPr>
          <p:cNvPr id="16" name="任意多边形 15"/>
          <p:cNvSpPr/>
          <p:nvPr/>
        </p:nvSpPr>
        <p:spPr>
          <a:xfrm>
            <a:off x="6887845" y="3875738"/>
            <a:ext cx="534670" cy="553085"/>
          </a:xfrm>
          <a:custGeom>
            <a:avLst/>
            <a:gdLst>
              <a:gd name="connsiteX0" fmla="*/ 907735 w 2501585"/>
              <a:gd name="connsiteY0" fmla="*/ 0 h 2993951"/>
              <a:gd name="connsiteX1" fmla="*/ 1593535 w 2501585"/>
              <a:gd name="connsiteY1" fmla="*/ 0 h 2993951"/>
              <a:gd name="connsiteX2" fmla="*/ 1593535 w 2501585"/>
              <a:gd name="connsiteY2" fmla="*/ 630768 h 2993951"/>
              <a:gd name="connsiteX3" fmla="*/ 2258915 w 2501585"/>
              <a:gd name="connsiteY3" fmla="*/ 630768 h 2993951"/>
              <a:gd name="connsiteX4" fmla="*/ 2501585 w 2501585"/>
              <a:gd name="connsiteY4" fmla="*/ 2991942 h 2993951"/>
              <a:gd name="connsiteX5" fmla="*/ 2498637 w 2501585"/>
              <a:gd name="connsiteY5" fmla="*/ 2991957 h 2993951"/>
              <a:gd name="connsiteX6" fmla="*/ 2388969 w 2501585"/>
              <a:gd name="connsiteY6" fmla="*/ 2908347 h 2993951"/>
              <a:gd name="connsiteX7" fmla="*/ 1250730 w 2501585"/>
              <a:gd name="connsiteY7" fmla="*/ 2586105 h 2993951"/>
              <a:gd name="connsiteX8" fmla="*/ 112515 w 2501585"/>
              <a:gd name="connsiteY8" fmla="*/ 2908203 h 2993951"/>
              <a:gd name="connsiteX9" fmla="*/ 0 w 2501585"/>
              <a:gd name="connsiteY9" fmla="*/ 2993951 h 2993951"/>
              <a:gd name="connsiteX10" fmla="*/ 17491 w 2501585"/>
              <a:gd name="connsiteY10" fmla="*/ 2397284 h 2993951"/>
              <a:gd name="connsiteX11" fmla="*/ 242356 w 2501585"/>
              <a:gd name="connsiteY11" fmla="*/ 630768 h 2993951"/>
              <a:gd name="connsiteX12" fmla="*/ 907735 w 2501585"/>
              <a:gd name="connsiteY12" fmla="*/ 630768 h 299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01585" h="2993951">
                <a:moveTo>
                  <a:pt x="907735" y="0"/>
                </a:moveTo>
                <a:lnTo>
                  <a:pt x="1593535" y="0"/>
                </a:lnTo>
                <a:lnTo>
                  <a:pt x="1593535" y="630768"/>
                </a:lnTo>
                <a:lnTo>
                  <a:pt x="2258915" y="630768"/>
                </a:lnTo>
                <a:cubicBezTo>
                  <a:pt x="2462572" y="1429115"/>
                  <a:pt x="2458795" y="2176662"/>
                  <a:pt x="2501585" y="2991942"/>
                </a:cubicBezTo>
                <a:lnTo>
                  <a:pt x="2498637" y="2991957"/>
                </a:lnTo>
                <a:lnTo>
                  <a:pt x="2388969" y="2908347"/>
                </a:lnTo>
                <a:cubicBezTo>
                  <a:pt x="2087559" y="2703075"/>
                  <a:pt x="1679209" y="2586123"/>
                  <a:pt x="1250730" y="2586105"/>
                </a:cubicBezTo>
                <a:cubicBezTo>
                  <a:pt x="822290" y="2586089"/>
                  <a:pt x="413953" y="2702987"/>
                  <a:pt x="112515" y="2908203"/>
                </a:cubicBezTo>
                <a:lnTo>
                  <a:pt x="0" y="2993951"/>
                </a:lnTo>
                <a:lnTo>
                  <a:pt x="17491" y="2397284"/>
                </a:lnTo>
                <a:cubicBezTo>
                  <a:pt x="37678" y="1803682"/>
                  <a:pt x="76914" y="1242228"/>
                  <a:pt x="242356" y="630768"/>
                </a:cubicBezTo>
                <a:lnTo>
                  <a:pt x="907735" y="6307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04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9D5D9-FDFC-474F-E111-F23A61ACC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24238B42-FD25-BA7B-0376-4AD2E607257C}"/>
              </a:ext>
            </a:extLst>
          </p:cNvPr>
          <p:cNvSpPr/>
          <p:nvPr/>
        </p:nvSpPr>
        <p:spPr>
          <a:xfrm>
            <a:off x="1275543" y="1111829"/>
            <a:ext cx="10027228" cy="513311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  <a:effectLst>
            <a:outerShdw blurRad="368300" dist="38100" dir="2700000" sx="101000" sy="101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B48938C-FAC0-353E-6147-A0E3D7CEA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/>
              <a:t>学而不厌，诲人不倦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F3AEC3-EE62-149E-9D65-A02F9F00F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fld id="{E60F2D4F-2241-454B-AF5D-961C997CB3B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D06E6E9-1EC6-C566-DA66-889290AAB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401" y="270627"/>
            <a:ext cx="3275599" cy="615399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功能介绍</a:t>
            </a:r>
          </a:p>
        </p:txBody>
      </p:sp>
      <p:sp>
        <p:nvSpPr>
          <p:cNvPr id="41" name="îṣľíḍè">
            <a:extLst>
              <a:ext uri="{FF2B5EF4-FFF2-40B4-BE49-F238E27FC236}">
                <a16:creationId xmlns:a16="http://schemas.microsoft.com/office/drawing/2014/main" id="{27C0655F-F142-4F2B-D0B9-E45134B0B301}"/>
              </a:ext>
            </a:extLst>
          </p:cNvPr>
          <p:cNvSpPr/>
          <p:nvPr/>
        </p:nvSpPr>
        <p:spPr>
          <a:xfrm>
            <a:off x="1668708" y="1697902"/>
            <a:ext cx="4100579" cy="1922642"/>
          </a:xfrm>
          <a:prstGeom prst="rect">
            <a:avLst/>
          </a:prstGeom>
          <a:noFill/>
          <a:ln w="12700" cap="rnd">
            <a:solidFill>
              <a:schemeClr val="bg1">
                <a:lumMod val="85000"/>
              </a:scheme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70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fontAlgn="auto">
              <a:lnSpc>
                <a:spcPct val="130000"/>
              </a:lnSpc>
            </a:pPr>
            <a:r>
              <a:rPr lang="zh-CN" altLang="en-US" sz="2000" spc="100" dirty="0">
                <a:solidFill>
                  <a:schemeClr val="tx1"/>
                </a:solidFill>
              </a:rPr>
              <a:t>养护统计 </a:t>
            </a:r>
            <a:r>
              <a:rPr lang="en-US" altLang="zh-CN" sz="2000" spc="100" dirty="0">
                <a:solidFill>
                  <a:schemeClr val="tx1"/>
                </a:solidFill>
              </a:rPr>
              <a:t>- </a:t>
            </a:r>
            <a:r>
              <a:rPr lang="zh-CN" altLang="en-US" sz="2000" spc="100" dirty="0">
                <a:solidFill>
                  <a:schemeClr val="tx1"/>
                </a:solidFill>
              </a:rPr>
              <a:t>各类养护活动次数和分布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2000" spc="100" dirty="0">
                <a:solidFill>
                  <a:schemeClr val="tx1"/>
                </a:solidFill>
              </a:rPr>
              <a:t>健康分析 </a:t>
            </a:r>
            <a:r>
              <a:rPr lang="en-US" altLang="zh-CN" sz="2000" spc="100" dirty="0">
                <a:solidFill>
                  <a:schemeClr val="tx1"/>
                </a:solidFill>
              </a:rPr>
              <a:t>- </a:t>
            </a:r>
            <a:r>
              <a:rPr lang="zh-CN" altLang="en-US" sz="2000" spc="100" dirty="0">
                <a:solidFill>
                  <a:schemeClr val="tx1"/>
                </a:solidFill>
              </a:rPr>
              <a:t>植物健康状态统计和预警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2000" spc="100" dirty="0">
                <a:solidFill>
                  <a:schemeClr val="tx1"/>
                </a:solidFill>
              </a:rPr>
              <a:t>成本分析 </a:t>
            </a:r>
            <a:r>
              <a:rPr lang="en-US" altLang="zh-CN" sz="2000" spc="100" dirty="0">
                <a:solidFill>
                  <a:schemeClr val="tx1"/>
                </a:solidFill>
              </a:rPr>
              <a:t>- </a:t>
            </a:r>
            <a:r>
              <a:rPr lang="zh-CN" altLang="en-US" sz="2000" spc="100" dirty="0">
                <a:solidFill>
                  <a:schemeClr val="tx1"/>
                </a:solidFill>
              </a:rPr>
              <a:t>植物购买成本和价值分析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2000" spc="100" dirty="0">
                <a:solidFill>
                  <a:schemeClr val="tx1"/>
                </a:solidFill>
              </a:rPr>
              <a:t>月度报告 </a:t>
            </a:r>
            <a:r>
              <a:rPr lang="en-US" altLang="zh-CN" sz="2000" spc="100" dirty="0">
                <a:solidFill>
                  <a:schemeClr val="tx1"/>
                </a:solidFill>
              </a:rPr>
              <a:t>- </a:t>
            </a:r>
            <a:r>
              <a:rPr lang="zh-CN" altLang="en-US" sz="2000" spc="100" dirty="0">
                <a:solidFill>
                  <a:schemeClr val="tx1"/>
                </a:solidFill>
              </a:rPr>
              <a:t>每月养护活动汇总报告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4B68FDD-87ED-C97E-A1B5-D6F7439B9C29}"/>
              </a:ext>
            </a:extLst>
          </p:cNvPr>
          <p:cNvSpPr txBox="1"/>
          <p:nvPr/>
        </p:nvSpPr>
        <p:spPr>
          <a:xfrm>
            <a:off x="2868165" y="1269023"/>
            <a:ext cx="1891145" cy="460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/>
              <a:t>报表统计</a:t>
            </a:r>
          </a:p>
        </p:txBody>
      </p:sp>
      <p:sp>
        <p:nvSpPr>
          <p:cNvPr id="40" name="任意多边形 39">
            <a:extLst>
              <a:ext uri="{FF2B5EF4-FFF2-40B4-BE49-F238E27FC236}">
                <a16:creationId xmlns:a16="http://schemas.microsoft.com/office/drawing/2014/main" id="{390047A8-0F54-AA1D-C459-00F1A7D78002}"/>
              </a:ext>
            </a:extLst>
          </p:cNvPr>
          <p:cNvSpPr/>
          <p:nvPr/>
        </p:nvSpPr>
        <p:spPr>
          <a:xfrm>
            <a:off x="2063438" y="1226433"/>
            <a:ext cx="534457" cy="639650"/>
          </a:xfrm>
          <a:custGeom>
            <a:avLst/>
            <a:gdLst>
              <a:gd name="connsiteX0" fmla="*/ 907735 w 2501585"/>
              <a:gd name="connsiteY0" fmla="*/ 0 h 2993951"/>
              <a:gd name="connsiteX1" fmla="*/ 1593535 w 2501585"/>
              <a:gd name="connsiteY1" fmla="*/ 0 h 2993951"/>
              <a:gd name="connsiteX2" fmla="*/ 1593535 w 2501585"/>
              <a:gd name="connsiteY2" fmla="*/ 630768 h 2993951"/>
              <a:gd name="connsiteX3" fmla="*/ 2258915 w 2501585"/>
              <a:gd name="connsiteY3" fmla="*/ 630768 h 2993951"/>
              <a:gd name="connsiteX4" fmla="*/ 2501585 w 2501585"/>
              <a:gd name="connsiteY4" fmla="*/ 2991942 h 2993951"/>
              <a:gd name="connsiteX5" fmla="*/ 2498637 w 2501585"/>
              <a:gd name="connsiteY5" fmla="*/ 2991957 h 2993951"/>
              <a:gd name="connsiteX6" fmla="*/ 2388969 w 2501585"/>
              <a:gd name="connsiteY6" fmla="*/ 2908347 h 2993951"/>
              <a:gd name="connsiteX7" fmla="*/ 1250730 w 2501585"/>
              <a:gd name="connsiteY7" fmla="*/ 2586105 h 2993951"/>
              <a:gd name="connsiteX8" fmla="*/ 112515 w 2501585"/>
              <a:gd name="connsiteY8" fmla="*/ 2908203 h 2993951"/>
              <a:gd name="connsiteX9" fmla="*/ 0 w 2501585"/>
              <a:gd name="connsiteY9" fmla="*/ 2993951 h 2993951"/>
              <a:gd name="connsiteX10" fmla="*/ 17491 w 2501585"/>
              <a:gd name="connsiteY10" fmla="*/ 2397284 h 2993951"/>
              <a:gd name="connsiteX11" fmla="*/ 242356 w 2501585"/>
              <a:gd name="connsiteY11" fmla="*/ 630768 h 2993951"/>
              <a:gd name="connsiteX12" fmla="*/ 907735 w 2501585"/>
              <a:gd name="connsiteY12" fmla="*/ 630768 h 299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01585" h="2993951">
                <a:moveTo>
                  <a:pt x="907735" y="0"/>
                </a:moveTo>
                <a:lnTo>
                  <a:pt x="1593535" y="0"/>
                </a:lnTo>
                <a:lnTo>
                  <a:pt x="1593535" y="630768"/>
                </a:lnTo>
                <a:lnTo>
                  <a:pt x="2258915" y="630768"/>
                </a:lnTo>
                <a:cubicBezTo>
                  <a:pt x="2462572" y="1429115"/>
                  <a:pt x="2458795" y="2176662"/>
                  <a:pt x="2501585" y="2991942"/>
                </a:cubicBezTo>
                <a:lnTo>
                  <a:pt x="2498637" y="2991957"/>
                </a:lnTo>
                <a:lnTo>
                  <a:pt x="2388969" y="2908347"/>
                </a:lnTo>
                <a:cubicBezTo>
                  <a:pt x="2087559" y="2703075"/>
                  <a:pt x="1679209" y="2586123"/>
                  <a:pt x="1250730" y="2586105"/>
                </a:cubicBezTo>
                <a:cubicBezTo>
                  <a:pt x="822290" y="2586089"/>
                  <a:pt x="413953" y="2702987"/>
                  <a:pt x="112515" y="2908203"/>
                </a:cubicBezTo>
                <a:lnTo>
                  <a:pt x="0" y="2993951"/>
                </a:lnTo>
                <a:lnTo>
                  <a:pt x="17491" y="2397284"/>
                </a:lnTo>
                <a:cubicBezTo>
                  <a:pt x="37678" y="1803682"/>
                  <a:pt x="76914" y="1242228"/>
                  <a:pt x="242356" y="630768"/>
                </a:cubicBezTo>
                <a:lnTo>
                  <a:pt x="907735" y="6307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05</a:t>
            </a:r>
            <a:endParaRPr lang="zh-CN" altLang="en-US" b="1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FD1FEEB-22C9-1E37-B9BD-09F2CEBA213F}"/>
              </a:ext>
            </a:extLst>
          </p:cNvPr>
          <p:cNvGrpSpPr/>
          <p:nvPr/>
        </p:nvGrpSpPr>
        <p:grpSpPr>
          <a:xfrm>
            <a:off x="2143100" y="1109589"/>
            <a:ext cx="7924800" cy="2859325"/>
            <a:chOff x="2133600" y="870595"/>
            <a:chExt cx="7924800" cy="2859325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D6BF4B5-3F44-D46E-0F4B-BA68827DD991}"/>
                </a:ext>
              </a:extLst>
            </p:cNvPr>
            <p:cNvGrpSpPr/>
            <p:nvPr/>
          </p:nvGrpSpPr>
          <p:grpSpPr>
            <a:xfrm>
              <a:off x="5795080" y="3128080"/>
              <a:ext cx="601840" cy="601840"/>
              <a:chOff x="3859968" y="2867811"/>
              <a:chExt cx="1486732" cy="1486732"/>
            </a:xfrm>
          </p:grpSpPr>
          <p:sp>
            <p:nvSpPr>
              <p:cNvPr id="6" name="任意多边形 5">
                <a:extLst>
                  <a:ext uri="{FF2B5EF4-FFF2-40B4-BE49-F238E27FC236}">
                    <a16:creationId xmlns:a16="http://schemas.microsoft.com/office/drawing/2014/main" id="{0BD53AEA-D6A1-4361-C651-9A3F630572A6}"/>
                  </a:ext>
                </a:extLst>
              </p:cNvPr>
              <p:cNvSpPr/>
              <p:nvPr/>
            </p:nvSpPr>
            <p:spPr>
              <a:xfrm>
                <a:off x="4120685" y="2867811"/>
                <a:ext cx="965298" cy="364514"/>
              </a:xfrm>
              <a:custGeom>
                <a:avLst/>
                <a:gdLst>
                  <a:gd name="connsiteX0" fmla="*/ 482649 w 965298"/>
                  <a:gd name="connsiteY0" fmla="*/ 0 h 364514"/>
                  <a:gd name="connsiteX1" fmla="*/ 898272 w 965298"/>
                  <a:gd name="connsiteY1" fmla="*/ 126955 h 364514"/>
                  <a:gd name="connsiteX2" fmla="*/ 965298 w 965298"/>
                  <a:gd name="connsiteY2" fmla="*/ 182257 h 364514"/>
                  <a:gd name="connsiteX3" fmla="*/ 898272 w 965298"/>
                  <a:gd name="connsiteY3" fmla="*/ 237559 h 364514"/>
                  <a:gd name="connsiteX4" fmla="*/ 482649 w 965298"/>
                  <a:gd name="connsiteY4" fmla="*/ 364514 h 364514"/>
                  <a:gd name="connsiteX5" fmla="*/ 67026 w 965298"/>
                  <a:gd name="connsiteY5" fmla="*/ 237559 h 364514"/>
                  <a:gd name="connsiteX6" fmla="*/ 0 w 965298"/>
                  <a:gd name="connsiteY6" fmla="*/ 182257 h 364514"/>
                  <a:gd name="connsiteX7" fmla="*/ 67026 w 965298"/>
                  <a:gd name="connsiteY7" fmla="*/ 126955 h 364514"/>
                  <a:gd name="connsiteX8" fmla="*/ 482649 w 965298"/>
                  <a:gd name="connsiteY8" fmla="*/ 0 h 364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5298" h="364514">
                    <a:moveTo>
                      <a:pt x="482649" y="0"/>
                    </a:moveTo>
                    <a:cubicBezTo>
                      <a:pt x="636605" y="0"/>
                      <a:pt x="779630" y="46802"/>
                      <a:pt x="898272" y="126955"/>
                    </a:cubicBezTo>
                    <a:lnTo>
                      <a:pt x="965298" y="182257"/>
                    </a:lnTo>
                    <a:lnTo>
                      <a:pt x="898272" y="237559"/>
                    </a:lnTo>
                    <a:cubicBezTo>
                      <a:pt x="779630" y="317712"/>
                      <a:pt x="636605" y="364514"/>
                      <a:pt x="482649" y="364514"/>
                    </a:cubicBezTo>
                    <a:cubicBezTo>
                      <a:pt x="328693" y="364514"/>
                      <a:pt x="185668" y="317712"/>
                      <a:pt x="67026" y="237559"/>
                    </a:cubicBezTo>
                    <a:lnTo>
                      <a:pt x="0" y="182257"/>
                    </a:lnTo>
                    <a:lnTo>
                      <a:pt x="67026" y="126955"/>
                    </a:lnTo>
                    <a:cubicBezTo>
                      <a:pt x="185668" y="46802"/>
                      <a:pt x="328693" y="0"/>
                      <a:pt x="482649" y="0"/>
                    </a:cubicBezTo>
                    <a:close/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zh-CN" altLang="en-US"/>
              </a:p>
            </p:txBody>
          </p:sp>
          <p:sp>
            <p:nvSpPr>
              <p:cNvPr id="7" name="任意多边形 6">
                <a:extLst>
                  <a:ext uri="{FF2B5EF4-FFF2-40B4-BE49-F238E27FC236}">
                    <a16:creationId xmlns:a16="http://schemas.microsoft.com/office/drawing/2014/main" id="{17F8DB8B-477D-81F5-8565-36BD3CB0B1B1}"/>
                  </a:ext>
                </a:extLst>
              </p:cNvPr>
              <p:cNvSpPr/>
              <p:nvPr/>
            </p:nvSpPr>
            <p:spPr>
              <a:xfrm>
                <a:off x="3859968" y="3081420"/>
                <a:ext cx="458032" cy="1069907"/>
              </a:xfrm>
              <a:custGeom>
                <a:avLst/>
                <a:gdLst>
                  <a:gd name="connsiteX0" fmla="*/ 222719 w 458032"/>
                  <a:gd name="connsiteY0" fmla="*/ 0 h 1069907"/>
                  <a:gd name="connsiteX1" fmla="*/ 240305 w 458032"/>
                  <a:gd name="connsiteY1" fmla="*/ 14510 h 1069907"/>
                  <a:gd name="connsiteX2" fmla="*/ 458032 w 458032"/>
                  <a:gd name="connsiteY2" fmla="*/ 540149 h 1069907"/>
                  <a:gd name="connsiteX3" fmla="*/ 240305 w 458032"/>
                  <a:gd name="connsiteY3" fmla="*/ 1065788 h 1069907"/>
                  <a:gd name="connsiteX4" fmla="*/ 235313 w 458032"/>
                  <a:gd name="connsiteY4" fmla="*/ 1069907 h 1069907"/>
                  <a:gd name="connsiteX5" fmla="*/ 217727 w 458032"/>
                  <a:gd name="connsiteY5" fmla="*/ 1055397 h 1069907"/>
                  <a:gd name="connsiteX6" fmla="*/ 0 w 458032"/>
                  <a:gd name="connsiteY6" fmla="*/ 529758 h 1069907"/>
                  <a:gd name="connsiteX7" fmla="*/ 217727 w 458032"/>
                  <a:gd name="connsiteY7" fmla="*/ 4119 h 1069907"/>
                  <a:gd name="connsiteX8" fmla="*/ 222719 w 458032"/>
                  <a:gd name="connsiteY8" fmla="*/ 0 h 1069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8032" h="1069907">
                    <a:moveTo>
                      <a:pt x="222719" y="0"/>
                    </a:moveTo>
                    <a:lnTo>
                      <a:pt x="240305" y="14510"/>
                    </a:lnTo>
                    <a:cubicBezTo>
                      <a:pt x="374828" y="149033"/>
                      <a:pt x="458032" y="334874"/>
                      <a:pt x="458032" y="540149"/>
                    </a:cubicBezTo>
                    <a:cubicBezTo>
                      <a:pt x="458032" y="745424"/>
                      <a:pt x="374828" y="931266"/>
                      <a:pt x="240305" y="1065788"/>
                    </a:cubicBezTo>
                    <a:lnTo>
                      <a:pt x="235313" y="1069907"/>
                    </a:lnTo>
                    <a:lnTo>
                      <a:pt x="217727" y="1055397"/>
                    </a:lnTo>
                    <a:cubicBezTo>
                      <a:pt x="83204" y="920875"/>
                      <a:pt x="0" y="735033"/>
                      <a:pt x="0" y="529758"/>
                    </a:cubicBezTo>
                    <a:cubicBezTo>
                      <a:pt x="0" y="324483"/>
                      <a:pt x="83204" y="138642"/>
                      <a:pt x="217727" y="4119"/>
                    </a:cubicBezTo>
                    <a:lnTo>
                      <a:pt x="222719" y="0"/>
                    </a:lnTo>
                    <a:close/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zh-CN" altLang="en-US"/>
              </a:p>
            </p:txBody>
          </p:sp>
          <p:sp>
            <p:nvSpPr>
              <p:cNvPr id="8" name="任意多边形 7">
                <a:extLst>
                  <a:ext uri="{FF2B5EF4-FFF2-40B4-BE49-F238E27FC236}">
                    <a16:creationId xmlns:a16="http://schemas.microsoft.com/office/drawing/2014/main" id="{8D656F40-B371-0EDF-CAD5-8508E8E0B3CF}"/>
                  </a:ext>
                </a:extLst>
              </p:cNvPr>
              <p:cNvSpPr/>
              <p:nvPr/>
            </p:nvSpPr>
            <p:spPr>
              <a:xfrm>
                <a:off x="4888668" y="3081420"/>
                <a:ext cx="458032" cy="1069907"/>
              </a:xfrm>
              <a:custGeom>
                <a:avLst/>
                <a:gdLst>
                  <a:gd name="connsiteX0" fmla="*/ 235313 w 458032"/>
                  <a:gd name="connsiteY0" fmla="*/ 0 h 1069907"/>
                  <a:gd name="connsiteX1" fmla="*/ 240305 w 458032"/>
                  <a:gd name="connsiteY1" fmla="*/ 4119 h 1069907"/>
                  <a:gd name="connsiteX2" fmla="*/ 458032 w 458032"/>
                  <a:gd name="connsiteY2" fmla="*/ 529758 h 1069907"/>
                  <a:gd name="connsiteX3" fmla="*/ 240305 w 458032"/>
                  <a:gd name="connsiteY3" fmla="*/ 1055397 h 1069907"/>
                  <a:gd name="connsiteX4" fmla="*/ 222719 w 458032"/>
                  <a:gd name="connsiteY4" fmla="*/ 1069907 h 1069907"/>
                  <a:gd name="connsiteX5" fmla="*/ 217727 w 458032"/>
                  <a:gd name="connsiteY5" fmla="*/ 1065788 h 1069907"/>
                  <a:gd name="connsiteX6" fmla="*/ 0 w 458032"/>
                  <a:gd name="connsiteY6" fmla="*/ 540149 h 1069907"/>
                  <a:gd name="connsiteX7" fmla="*/ 217727 w 458032"/>
                  <a:gd name="connsiteY7" fmla="*/ 14510 h 1069907"/>
                  <a:gd name="connsiteX8" fmla="*/ 235313 w 458032"/>
                  <a:gd name="connsiteY8" fmla="*/ 0 h 1069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8032" h="1069907">
                    <a:moveTo>
                      <a:pt x="235313" y="0"/>
                    </a:moveTo>
                    <a:lnTo>
                      <a:pt x="240305" y="4119"/>
                    </a:lnTo>
                    <a:cubicBezTo>
                      <a:pt x="374828" y="138642"/>
                      <a:pt x="458032" y="324483"/>
                      <a:pt x="458032" y="529758"/>
                    </a:cubicBezTo>
                    <a:cubicBezTo>
                      <a:pt x="458032" y="735033"/>
                      <a:pt x="374828" y="920875"/>
                      <a:pt x="240305" y="1055397"/>
                    </a:cubicBezTo>
                    <a:lnTo>
                      <a:pt x="222719" y="1069907"/>
                    </a:lnTo>
                    <a:lnTo>
                      <a:pt x="217727" y="1065788"/>
                    </a:lnTo>
                    <a:cubicBezTo>
                      <a:pt x="83204" y="931266"/>
                      <a:pt x="0" y="745424"/>
                      <a:pt x="0" y="540149"/>
                    </a:cubicBezTo>
                    <a:cubicBezTo>
                      <a:pt x="0" y="334874"/>
                      <a:pt x="83204" y="149033"/>
                      <a:pt x="217727" y="14510"/>
                    </a:cubicBezTo>
                    <a:lnTo>
                      <a:pt x="235313" y="0"/>
                    </a:lnTo>
                    <a:close/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zh-CN" altLang="en-US"/>
              </a:p>
            </p:txBody>
          </p:sp>
          <p:sp>
            <p:nvSpPr>
              <p:cNvPr id="9" name="任意多边形 8">
                <a:extLst>
                  <a:ext uri="{FF2B5EF4-FFF2-40B4-BE49-F238E27FC236}">
                    <a16:creationId xmlns:a16="http://schemas.microsoft.com/office/drawing/2014/main" id="{A3100685-F7B1-6D61-A037-37486A551108}"/>
                  </a:ext>
                </a:extLst>
              </p:cNvPr>
              <p:cNvSpPr/>
              <p:nvPr/>
            </p:nvSpPr>
            <p:spPr>
              <a:xfrm>
                <a:off x="4126176" y="3999091"/>
                <a:ext cx="954316" cy="355452"/>
              </a:xfrm>
              <a:custGeom>
                <a:avLst/>
                <a:gdLst>
                  <a:gd name="connsiteX0" fmla="*/ 477158 w 954316"/>
                  <a:gd name="connsiteY0" fmla="*/ 0 h 355452"/>
                  <a:gd name="connsiteX1" fmla="*/ 892781 w 954316"/>
                  <a:gd name="connsiteY1" fmla="*/ 126955 h 355452"/>
                  <a:gd name="connsiteX2" fmla="*/ 954316 w 954316"/>
                  <a:gd name="connsiteY2" fmla="*/ 177726 h 355452"/>
                  <a:gd name="connsiteX3" fmla="*/ 892781 w 954316"/>
                  <a:gd name="connsiteY3" fmla="*/ 228497 h 355452"/>
                  <a:gd name="connsiteX4" fmla="*/ 477158 w 954316"/>
                  <a:gd name="connsiteY4" fmla="*/ 355452 h 355452"/>
                  <a:gd name="connsiteX5" fmla="*/ 61535 w 954316"/>
                  <a:gd name="connsiteY5" fmla="*/ 228497 h 355452"/>
                  <a:gd name="connsiteX6" fmla="*/ 0 w 954316"/>
                  <a:gd name="connsiteY6" fmla="*/ 177726 h 355452"/>
                  <a:gd name="connsiteX7" fmla="*/ 61535 w 954316"/>
                  <a:gd name="connsiteY7" fmla="*/ 126955 h 355452"/>
                  <a:gd name="connsiteX8" fmla="*/ 477158 w 954316"/>
                  <a:gd name="connsiteY8" fmla="*/ 0 h 355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4316" h="355452">
                    <a:moveTo>
                      <a:pt x="477158" y="0"/>
                    </a:moveTo>
                    <a:cubicBezTo>
                      <a:pt x="631114" y="0"/>
                      <a:pt x="774139" y="46802"/>
                      <a:pt x="892781" y="126955"/>
                    </a:cubicBezTo>
                    <a:lnTo>
                      <a:pt x="954316" y="177726"/>
                    </a:lnTo>
                    <a:lnTo>
                      <a:pt x="892781" y="228497"/>
                    </a:lnTo>
                    <a:cubicBezTo>
                      <a:pt x="774139" y="308650"/>
                      <a:pt x="631114" y="355452"/>
                      <a:pt x="477158" y="355452"/>
                    </a:cubicBezTo>
                    <a:cubicBezTo>
                      <a:pt x="323202" y="355452"/>
                      <a:pt x="180177" y="308650"/>
                      <a:pt x="61535" y="228497"/>
                    </a:cubicBezTo>
                    <a:lnTo>
                      <a:pt x="0" y="177726"/>
                    </a:lnTo>
                    <a:lnTo>
                      <a:pt x="61535" y="126955"/>
                    </a:lnTo>
                    <a:cubicBezTo>
                      <a:pt x="180177" y="46802"/>
                      <a:pt x="323202" y="0"/>
                      <a:pt x="477158" y="0"/>
                    </a:cubicBezTo>
                    <a:close/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zh-CN" altLang="en-US"/>
              </a:p>
            </p:txBody>
          </p:sp>
          <p:sp>
            <p:nvSpPr>
              <p:cNvPr id="10" name="任意多边形 9">
                <a:extLst>
                  <a:ext uri="{FF2B5EF4-FFF2-40B4-BE49-F238E27FC236}">
                    <a16:creationId xmlns:a16="http://schemas.microsoft.com/office/drawing/2014/main" id="{6C31D8E0-48E3-B958-A583-96E8CFB23072}"/>
                  </a:ext>
                </a:extLst>
              </p:cNvPr>
              <p:cNvSpPr/>
              <p:nvPr/>
            </p:nvSpPr>
            <p:spPr>
              <a:xfrm>
                <a:off x="4082687" y="3050069"/>
                <a:ext cx="1041294" cy="1126749"/>
              </a:xfrm>
              <a:custGeom>
                <a:avLst/>
                <a:gdLst>
                  <a:gd name="connsiteX0" fmla="*/ 37998 w 1041294"/>
                  <a:gd name="connsiteY0" fmla="*/ 0 h 1126749"/>
                  <a:gd name="connsiteX1" fmla="*/ 105024 w 1041294"/>
                  <a:gd name="connsiteY1" fmla="*/ 55302 h 1126749"/>
                  <a:gd name="connsiteX2" fmla="*/ 520647 w 1041294"/>
                  <a:gd name="connsiteY2" fmla="*/ 182257 h 1126749"/>
                  <a:gd name="connsiteX3" fmla="*/ 936270 w 1041294"/>
                  <a:gd name="connsiteY3" fmla="*/ 55302 h 1126749"/>
                  <a:gd name="connsiteX4" fmla="*/ 1003296 w 1041294"/>
                  <a:gd name="connsiteY4" fmla="*/ 0 h 1126749"/>
                  <a:gd name="connsiteX5" fmla="*/ 1041294 w 1041294"/>
                  <a:gd name="connsiteY5" fmla="*/ 31351 h 1126749"/>
                  <a:gd name="connsiteX6" fmla="*/ 1023708 w 1041294"/>
                  <a:gd name="connsiteY6" fmla="*/ 45861 h 1126749"/>
                  <a:gd name="connsiteX7" fmla="*/ 805981 w 1041294"/>
                  <a:gd name="connsiteY7" fmla="*/ 571500 h 1126749"/>
                  <a:gd name="connsiteX8" fmla="*/ 1023708 w 1041294"/>
                  <a:gd name="connsiteY8" fmla="*/ 1097139 h 1126749"/>
                  <a:gd name="connsiteX9" fmla="*/ 1028700 w 1041294"/>
                  <a:gd name="connsiteY9" fmla="*/ 1101258 h 1126749"/>
                  <a:gd name="connsiteX10" fmla="*/ 997805 w 1041294"/>
                  <a:gd name="connsiteY10" fmla="*/ 1126749 h 1126749"/>
                  <a:gd name="connsiteX11" fmla="*/ 936270 w 1041294"/>
                  <a:gd name="connsiteY11" fmla="*/ 1075978 h 1126749"/>
                  <a:gd name="connsiteX12" fmla="*/ 520647 w 1041294"/>
                  <a:gd name="connsiteY12" fmla="*/ 949023 h 1126749"/>
                  <a:gd name="connsiteX13" fmla="*/ 105024 w 1041294"/>
                  <a:gd name="connsiteY13" fmla="*/ 1075978 h 1126749"/>
                  <a:gd name="connsiteX14" fmla="*/ 43489 w 1041294"/>
                  <a:gd name="connsiteY14" fmla="*/ 1126749 h 1126749"/>
                  <a:gd name="connsiteX15" fmla="*/ 12594 w 1041294"/>
                  <a:gd name="connsiteY15" fmla="*/ 1101258 h 1126749"/>
                  <a:gd name="connsiteX16" fmla="*/ 17586 w 1041294"/>
                  <a:gd name="connsiteY16" fmla="*/ 1097139 h 1126749"/>
                  <a:gd name="connsiteX17" fmla="*/ 235313 w 1041294"/>
                  <a:gd name="connsiteY17" fmla="*/ 571500 h 1126749"/>
                  <a:gd name="connsiteX18" fmla="*/ 17586 w 1041294"/>
                  <a:gd name="connsiteY18" fmla="*/ 45861 h 1126749"/>
                  <a:gd name="connsiteX19" fmla="*/ 0 w 1041294"/>
                  <a:gd name="connsiteY19" fmla="*/ 31351 h 1126749"/>
                  <a:gd name="connsiteX20" fmla="*/ 37998 w 1041294"/>
                  <a:gd name="connsiteY20" fmla="*/ 0 h 1126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041294" h="1126749">
                    <a:moveTo>
                      <a:pt x="37998" y="0"/>
                    </a:moveTo>
                    <a:lnTo>
                      <a:pt x="105024" y="55302"/>
                    </a:lnTo>
                    <a:cubicBezTo>
                      <a:pt x="223666" y="135455"/>
                      <a:pt x="366691" y="182257"/>
                      <a:pt x="520647" y="182257"/>
                    </a:cubicBezTo>
                    <a:cubicBezTo>
                      <a:pt x="674603" y="182257"/>
                      <a:pt x="817628" y="135455"/>
                      <a:pt x="936270" y="55302"/>
                    </a:cubicBezTo>
                    <a:lnTo>
                      <a:pt x="1003296" y="0"/>
                    </a:lnTo>
                    <a:lnTo>
                      <a:pt x="1041294" y="31351"/>
                    </a:lnTo>
                    <a:lnTo>
                      <a:pt x="1023708" y="45861"/>
                    </a:lnTo>
                    <a:cubicBezTo>
                      <a:pt x="889185" y="180384"/>
                      <a:pt x="805981" y="366225"/>
                      <a:pt x="805981" y="571500"/>
                    </a:cubicBezTo>
                    <a:cubicBezTo>
                      <a:pt x="805981" y="776775"/>
                      <a:pt x="889185" y="962617"/>
                      <a:pt x="1023708" y="1097139"/>
                    </a:cubicBezTo>
                    <a:lnTo>
                      <a:pt x="1028700" y="1101258"/>
                    </a:lnTo>
                    <a:lnTo>
                      <a:pt x="997805" y="1126749"/>
                    </a:lnTo>
                    <a:lnTo>
                      <a:pt x="936270" y="1075978"/>
                    </a:lnTo>
                    <a:cubicBezTo>
                      <a:pt x="817628" y="995825"/>
                      <a:pt x="674603" y="949023"/>
                      <a:pt x="520647" y="949023"/>
                    </a:cubicBezTo>
                    <a:cubicBezTo>
                      <a:pt x="366691" y="949023"/>
                      <a:pt x="223666" y="995825"/>
                      <a:pt x="105024" y="1075978"/>
                    </a:cubicBezTo>
                    <a:lnTo>
                      <a:pt x="43489" y="1126749"/>
                    </a:lnTo>
                    <a:lnTo>
                      <a:pt x="12594" y="1101258"/>
                    </a:lnTo>
                    <a:lnTo>
                      <a:pt x="17586" y="1097139"/>
                    </a:lnTo>
                    <a:cubicBezTo>
                      <a:pt x="152109" y="962617"/>
                      <a:pt x="235313" y="776775"/>
                      <a:pt x="235313" y="571500"/>
                    </a:cubicBezTo>
                    <a:cubicBezTo>
                      <a:pt x="235313" y="366225"/>
                      <a:pt x="152109" y="180384"/>
                      <a:pt x="17586" y="45861"/>
                    </a:cubicBezTo>
                    <a:lnTo>
                      <a:pt x="0" y="31351"/>
                    </a:lnTo>
                    <a:lnTo>
                      <a:pt x="37998" y="0"/>
                    </a:lnTo>
                    <a:close/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zh-CN" altLang="en-US"/>
              </a:p>
            </p:txBody>
          </p:sp>
        </p:grp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44DAE4CA-DCE7-E2A2-35C3-4E6F5CC36095}"/>
                </a:ext>
              </a:extLst>
            </p:cNvPr>
            <p:cNvCxnSpPr>
              <a:stCxn id="8" idx="2"/>
            </p:cNvCxnSpPr>
            <p:nvPr/>
          </p:nvCxnSpPr>
          <p:spPr>
            <a:xfrm>
              <a:off x="6396920" y="3429000"/>
              <a:ext cx="3661480" cy="0"/>
            </a:xfrm>
            <a:prstGeom prst="line">
              <a:avLst/>
            </a:prstGeom>
            <a:ln w="66675" cmpd="dbl">
              <a:gradFill>
                <a:gsLst>
                  <a:gs pos="0">
                    <a:schemeClr val="accent1"/>
                  </a:gs>
                  <a:gs pos="100000">
                    <a:schemeClr val="accent3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C2DD52B-31A8-47D1-B23A-7EB443665FBD}"/>
                </a:ext>
              </a:extLst>
            </p:cNvPr>
            <p:cNvCxnSpPr/>
            <p:nvPr/>
          </p:nvCxnSpPr>
          <p:spPr>
            <a:xfrm>
              <a:off x="2133600" y="3429000"/>
              <a:ext cx="3661480" cy="0"/>
            </a:xfrm>
            <a:prstGeom prst="line">
              <a:avLst/>
            </a:prstGeom>
            <a:ln w="66675" cmpd="dbl">
              <a:gradFill>
                <a:gsLst>
                  <a:gs pos="100000">
                    <a:schemeClr val="accent1"/>
                  </a:gs>
                  <a:gs pos="0">
                    <a:schemeClr val="accent3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A83BDAE2-3A2C-74B3-A205-71F17853CCC9}"/>
                </a:ext>
              </a:extLst>
            </p:cNvPr>
            <p:cNvCxnSpPr/>
            <p:nvPr/>
          </p:nvCxnSpPr>
          <p:spPr>
            <a:xfrm flipH="1">
              <a:off x="6106390" y="870595"/>
              <a:ext cx="6927" cy="2276025"/>
            </a:xfrm>
            <a:prstGeom prst="line">
              <a:avLst/>
            </a:prstGeom>
            <a:ln w="66675" cmpd="dbl">
              <a:gradFill>
                <a:gsLst>
                  <a:gs pos="100000">
                    <a:schemeClr val="accent1"/>
                  </a:gs>
                  <a:gs pos="1000">
                    <a:schemeClr val="accent3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îṣľíḍè">
            <a:extLst>
              <a:ext uri="{FF2B5EF4-FFF2-40B4-BE49-F238E27FC236}">
                <a16:creationId xmlns:a16="http://schemas.microsoft.com/office/drawing/2014/main" id="{A0D5D400-7D2B-5386-DD8E-A85423CFB50A}"/>
              </a:ext>
            </a:extLst>
          </p:cNvPr>
          <p:cNvSpPr/>
          <p:nvPr/>
        </p:nvSpPr>
        <p:spPr>
          <a:xfrm>
            <a:off x="6457315" y="1612900"/>
            <a:ext cx="4747260" cy="2212340"/>
          </a:xfrm>
          <a:prstGeom prst="rect">
            <a:avLst/>
          </a:prstGeom>
          <a:noFill/>
          <a:ln w="12700" cap="rnd">
            <a:solidFill>
              <a:schemeClr val="bg1">
                <a:lumMod val="85000"/>
              </a:scheme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多类型提醒 </a:t>
            </a:r>
            <a:r>
              <a:rPr lang="en-US" altLang="zh-CN" sz="1400" spc="100" dirty="0">
                <a:solidFill>
                  <a:schemeClr val="tx1"/>
                </a:solidFill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</a:rPr>
              <a:t>浇水、施肥、换盆、健康状态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优先级排序 </a:t>
            </a:r>
            <a:r>
              <a:rPr lang="en-US" altLang="zh-CN" sz="1400" spc="100" dirty="0">
                <a:solidFill>
                  <a:schemeClr val="tx1"/>
                </a:solidFill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</a:rPr>
              <a:t>紧急、高、中、低四个等级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季节适应 </a:t>
            </a:r>
            <a:r>
              <a:rPr lang="en-US" altLang="zh-CN" sz="1400" spc="100" dirty="0">
                <a:solidFill>
                  <a:schemeClr val="tx1"/>
                </a:solidFill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</a:rPr>
              <a:t>根据季节调整养护频率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1400" spc="100" dirty="0">
                <a:solidFill>
                  <a:schemeClr val="tx1"/>
                </a:solidFill>
              </a:rPr>
              <a:t>一键处理 </a:t>
            </a:r>
            <a:r>
              <a:rPr lang="en-US" altLang="zh-CN" sz="1400" spc="100" dirty="0">
                <a:solidFill>
                  <a:schemeClr val="tx1"/>
                </a:solidFill>
              </a:rPr>
              <a:t>- </a:t>
            </a:r>
            <a:r>
              <a:rPr lang="zh-CN" altLang="en-US" sz="1400" spc="100" dirty="0">
                <a:solidFill>
                  <a:schemeClr val="tx1"/>
                </a:solidFill>
              </a:rPr>
              <a:t>快速标记提醒为已完成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661B71A-A11A-D1B3-CFC3-1377B86CD4D9}"/>
              </a:ext>
            </a:extLst>
          </p:cNvPr>
          <p:cNvSpPr txBox="1"/>
          <p:nvPr/>
        </p:nvSpPr>
        <p:spPr>
          <a:xfrm>
            <a:off x="7607935" y="1196975"/>
            <a:ext cx="2180590" cy="460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/>
              <a:t>智能提醒</a:t>
            </a:r>
          </a:p>
        </p:txBody>
      </p:sp>
      <p:sp>
        <p:nvSpPr>
          <p:cNvPr id="47" name="任意多边形 46">
            <a:extLst>
              <a:ext uri="{FF2B5EF4-FFF2-40B4-BE49-F238E27FC236}">
                <a16:creationId xmlns:a16="http://schemas.microsoft.com/office/drawing/2014/main" id="{D47D8685-65D5-660F-58B0-83A43ADC3AC3}"/>
              </a:ext>
            </a:extLst>
          </p:cNvPr>
          <p:cNvSpPr/>
          <p:nvPr/>
        </p:nvSpPr>
        <p:spPr>
          <a:xfrm>
            <a:off x="6950249" y="1283907"/>
            <a:ext cx="534457" cy="639650"/>
          </a:xfrm>
          <a:custGeom>
            <a:avLst/>
            <a:gdLst>
              <a:gd name="connsiteX0" fmla="*/ 907735 w 2501585"/>
              <a:gd name="connsiteY0" fmla="*/ 0 h 2993951"/>
              <a:gd name="connsiteX1" fmla="*/ 1593535 w 2501585"/>
              <a:gd name="connsiteY1" fmla="*/ 0 h 2993951"/>
              <a:gd name="connsiteX2" fmla="*/ 1593535 w 2501585"/>
              <a:gd name="connsiteY2" fmla="*/ 630768 h 2993951"/>
              <a:gd name="connsiteX3" fmla="*/ 2258915 w 2501585"/>
              <a:gd name="connsiteY3" fmla="*/ 630768 h 2993951"/>
              <a:gd name="connsiteX4" fmla="*/ 2501585 w 2501585"/>
              <a:gd name="connsiteY4" fmla="*/ 2991942 h 2993951"/>
              <a:gd name="connsiteX5" fmla="*/ 2498637 w 2501585"/>
              <a:gd name="connsiteY5" fmla="*/ 2991957 h 2993951"/>
              <a:gd name="connsiteX6" fmla="*/ 2388969 w 2501585"/>
              <a:gd name="connsiteY6" fmla="*/ 2908347 h 2993951"/>
              <a:gd name="connsiteX7" fmla="*/ 1250730 w 2501585"/>
              <a:gd name="connsiteY7" fmla="*/ 2586105 h 2993951"/>
              <a:gd name="connsiteX8" fmla="*/ 112515 w 2501585"/>
              <a:gd name="connsiteY8" fmla="*/ 2908203 h 2993951"/>
              <a:gd name="connsiteX9" fmla="*/ 0 w 2501585"/>
              <a:gd name="connsiteY9" fmla="*/ 2993951 h 2993951"/>
              <a:gd name="connsiteX10" fmla="*/ 17491 w 2501585"/>
              <a:gd name="connsiteY10" fmla="*/ 2397284 h 2993951"/>
              <a:gd name="connsiteX11" fmla="*/ 242356 w 2501585"/>
              <a:gd name="connsiteY11" fmla="*/ 630768 h 2993951"/>
              <a:gd name="connsiteX12" fmla="*/ 907735 w 2501585"/>
              <a:gd name="connsiteY12" fmla="*/ 630768 h 299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01585" h="2993951">
                <a:moveTo>
                  <a:pt x="907735" y="0"/>
                </a:moveTo>
                <a:lnTo>
                  <a:pt x="1593535" y="0"/>
                </a:lnTo>
                <a:lnTo>
                  <a:pt x="1593535" y="630768"/>
                </a:lnTo>
                <a:lnTo>
                  <a:pt x="2258915" y="630768"/>
                </a:lnTo>
                <a:cubicBezTo>
                  <a:pt x="2462572" y="1429115"/>
                  <a:pt x="2458795" y="2176662"/>
                  <a:pt x="2501585" y="2991942"/>
                </a:cubicBezTo>
                <a:lnTo>
                  <a:pt x="2498637" y="2991957"/>
                </a:lnTo>
                <a:lnTo>
                  <a:pt x="2388969" y="2908347"/>
                </a:lnTo>
                <a:cubicBezTo>
                  <a:pt x="2087559" y="2703075"/>
                  <a:pt x="1679209" y="2586123"/>
                  <a:pt x="1250730" y="2586105"/>
                </a:cubicBezTo>
                <a:cubicBezTo>
                  <a:pt x="822290" y="2586089"/>
                  <a:pt x="413953" y="2702987"/>
                  <a:pt x="112515" y="2908203"/>
                </a:cubicBezTo>
                <a:lnTo>
                  <a:pt x="0" y="2993951"/>
                </a:lnTo>
                <a:lnTo>
                  <a:pt x="17491" y="2397284"/>
                </a:lnTo>
                <a:cubicBezTo>
                  <a:pt x="37678" y="1803682"/>
                  <a:pt x="76914" y="1242228"/>
                  <a:pt x="242356" y="630768"/>
                </a:cubicBezTo>
                <a:lnTo>
                  <a:pt x="907735" y="6307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06</a:t>
            </a:r>
            <a:endParaRPr lang="zh-CN" altLang="en-US" b="1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35441293-3E71-AE37-ED78-AA1C372EAD47}"/>
              </a:ext>
            </a:extLst>
          </p:cNvPr>
          <p:cNvSpPr txBox="1"/>
          <p:nvPr/>
        </p:nvSpPr>
        <p:spPr>
          <a:xfrm>
            <a:off x="2868165" y="3907571"/>
            <a:ext cx="1891145" cy="460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/>
              <a:t>数据查看</a:t>
            </a:r>
          </a:p>
        </p:txBody>
      </p:sp>
      <p:sp>
        <p:nvSpPr>
          <p:cNvPr id="86" name="任意多边形 85">
            <a:extLst>
              <a:ext uri="{FF2B5EF4-FFF2-40B4-BE49-F238E27FC236}">
                <a16:creationId xmlns:a16="http://schemas.microsoft.com/office/drawing/2014/main" id="{363A76DE-3229-93CC-1AA5-980263B7A0B1}"/>
              </a:ext>
            </a:extLst>
          </p:cNvPr>
          <p:cNvSpPr/>
          <p:nvPr/>
        </p:nvSpPr>
        <p:spPr>
          <a:xfrm>
            <a:off x="2134558" y="3788781"/>
            <a:ext cx="534457" cy="639650"/>
          </a:xfrm>
          <a:custGeom>
            <a:avLst/>
            <a:gdLst>
              <a:gd name="connsiteX0" fmla="*/ 907735 w 2501585"/>
              <a:gd name="connsiteY0" fmla="*/ 0 h 2993951"/>
              <a:gd name="connsiteX1" fmla="*/ 1593535 w 2501585"/>
              <a:gd name="connsiteY1" fmla="*/ 0 h 2993951"/>
              <a:gd name="connsiteX2" fmla="*/ 1593535 w 2501585"/>
              <a:gd name="connsiteY2" fmla="*/ 630768 h 2993951"/>
              <a:gd name="connsiteX3" fmla="*/ 2258915 w 2501585"/>
              <a:gd name="connsiteY3" fmla="*/ 630768 h 2993951"/>
              <a:gd name="connsiteX4" fmla="*/ 2501585 w 2501585"/>
              <a:gd name="connsiteY4" fmla="*/ 2991942 h 2993951"/>
              <a:gd name="connsiteX5" fmla="*/ 2498637 w 2501585"/>
              <a:gd name="connsiteY5" fmla="*/ 2991957 h 2993951"/>
              <a:gd name="connsiteX6" fmla="*/ 2388969 w 2501585"/>
              <a:gd name="connsiteY6" fmla="*/ 2908347 h 2993951"/>
              <a:gd name="connsiteX7" fmla="*/ 1250730 w 2501585"/>
              <a:gd name="connsiteY7" fmla="*/ 2586105 h 2993951"/>
              <a:gd name="connsiteX8" fmla="*/ 112515 w 2501585"/>
              <a:gd name="connsiteY8" fmla="*/ 2908203 h 2993951"/>
              <a:gd name="connsiteX9" fmla="*/ 0 w 2501585"/>
              <a:gd name="connsiteY9" fmla="*/ 2993951 h 2993951"/>
              <a:gd name="connsiteX10" fmla="*/ 17491 w 2501585"/>
              <a:gd name="connsiteY10" fmla="*/ 2397284 h 2993951"/>
              <a:gd name="connsiteX11" fmla="*/ 242356 w 2501585"/>
              <a:gd name="connsiteY11" fmla="*/ 630768 h 2993951"/>
              <a:gd name="connsiteX12" fmla="*/ 907735 w 2501585"/>
              <a:gd name="connsiteY12" fmla="*/ 630768 h 299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01585" h="2993951">
                <a:moveTo>
                  <a:pt x="907735" y="0"/>
                </a:moveTo>
                <a:lnTo>
                  <a:pt x="1593535" y="0"/>
                </a:lnTo>
                <a:lnTo>
                  <a:pt x="1593535" y="630768"/>
                </a:lnTo>
                <a:lnTo>
                  <a:pt x="2258915" y="630768"/>
                </a:lnTo>
                <a:cubicBezTo>
                  <a:pt x="2462572" y="1429115"/>
                  <a:pt x="2458795" y="2176662"/>
                  <a:pt x="2501585" y="2991942"/>
                </a:cubicBezTo>
                <a:lnTo>
                  <a:pt x="2498637" y="2991957"/>
                </a:lnTo>
                <a:lnTo>
                  <a:pt x="2388969" y="2908347"/>
                </a:lnTo>
                <a:cubicBezTo>
                  <a:pt x="2087559" y="2703075"/>
                  <a:pt x="1679209" y="2586123"/>
                  <a:pt x="1250730" y="2586105"/>
                </a:cubicBezTo>
                <a:cubicBezTo>
                  <a:pt x="822290" y="2586089"/>
                  <a:pt x="413953" y="2702987"/>
                  <a:pt x="112515" y="2908203"/>
                </a:cubicBezTo>
                <a:lnTo>
                  <a:pt x="0" y="2993951"/>
                </a:lnTo>
                <a:lnTo>
                  <a:pt x="17491" y="2397284"/>
                </a:lnTo>
                <a:cubicBezTo>
                  <a:pt x="37678" y="1803682"/>
                  <a:pt x="76914" y="1242228"/>
                  <a:pt x="242356" y="630768"/>
                </a:cubicBezTo>
                <a:lnTo>
                  <a:pt x="907735" y="6307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07</a:t>
            </a:r>
            <a:endParaRPr lang="zh-CN" altLang="en-US" b="1" dirty="0"/>
          </a:p>
        </p:txBody>
      </p:sp>
      <p:sp>
        <p:nvSpPr>
          <p:cNvPr id="11" name="îṣľíḍè">
            <a:extLst>
              <a:ext uri="{FF2B5EF4-FFF2-40B4-BE49-F238E27FC236}">
                <a16:creationId xmlns:a16="http://schemas.microsoft.com/office/drawing/2014/main" id="{E719FD8C-B724-DDE0-8A5E-662F9624000E}"/>
              </a:ext>
            </a:extLst>
          </p:cNvPr>
          <p:cNvSpPr/>
          <p:nvPr/>
        </p:nvSpPr>
        <p:spPr>
          <a:xfrm>
            <a:off x="1703633" y="4432847"/>
            <a:ext cx="4100579" cy="1669779"/>
          </a:xfrm>
          <a:prstGeom prst="rect">
            <a:avLst/>
          </a:prstGeom>
          <a:noFill/>
          <a:ln w="12700" cap="rnd">
            <a:solidFill>
              <a:schemeClr val="bg1">
                <a:lumMod val="85000"/>
              </a:scheme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70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fontAlgn="auto">
              <a:lnSpc>
                <a:spcPct val="130000"/>
              </a:lnSpc>
            </a:pPr>
            <a:r>
              <a:rPr lang="zh-CN" altLang="en-US" sz="2000" spc="100" dirty="0">
                <a:solidFill>
                  <a:schemeClr val="tx1"/>
                </a:solidFill>
                <a:sym typeface="+mn-ea"/>
              </a:rPr>
              <a:t>表格浏览 </a:t>
            </a:r>
            <a:r>
              <a:rPr lang="en-US" altLang="zh-CN" sz="2000" spc="100" dirty="0">
                <a:solidFill>
                  <a:schemeClr val="tx1"/>
                </a:solidFill>
                <a:sym typeface="+mn-ea"/>
              </a:rPr>
              <a:t>- </a:t>
            </a:r>
            <a:r>
              <a:rPr lang="zh-CN" altLang="en-US" sz="2000" spc="100" dirty="0">
                <a:solidFill>
                  <a:schemeClr val="tx1"/>
                </a:solidFill>
                <a:sym typeface="+mn-ea"/>
              </a:rPr>
              <a:t>图形化查看所有数据库内容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2000" spc="100" dirty="0">
                <a:solidFill>
                  <a:schemeClr val="tx1"/>
                </a:solidFill>
                <a:sym typeface="+mn-ea"/>
              </a:rPr>
              <a:t>分类查看 </a:t>
            </a:r>
            <a:r>
              <a:rPr lang="en-US" altLang="zh-CN" sz="2000" spc="100" dirty="0">
                <a:solidFill>
                  <a:schemeClr val="tx1"/>
                </a:solidFill>
                <a:sym typeface="+mn-ea"/>
              </a:rPr>
              <a:t>- </a:t>
            </a:r>
            <a:r>
              <a:rPr lang="zh-CN" altLang="en-US" sz="2000" spc="100" dirty="0">
                <a:solidFill>
                  <a:schemeClr val="tx1"/>
                </a:solidFill>
                <a:sym typeface="+mn-ea"/>
              </a:rPr>
              <a:t>按植物、养护、生长等分类浏览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2000" spc="100" dirty="0">
                <a:solidFill>
                  <a:schemeClr val="tx1"/>
                </a:solidFill>
                <a:sym typeface="+mn-ea"/>
              </a:rPr>
              <a:t>实时数据 </a:t>
            </a:r>
            <a:r>
              <a:rPr lang="en-US" altLang="zh-CN" sz="2000" spc="100" dirty="0">
                <a:solidFill>
                  <a:schemeClr val="tx1"/>
                </a:solidFill>
                <a:sym typeface="+mn-ea"/>
              </a:rPr>
              <a:t>- </a:t>
            </a:r>
            <a:r>
              <a:rPr lang="zh-CN" altLang="en-US" sz="2000" spc="100" dirty="0">
                <a:solidFill>
                  <a:schemeClr val="tx1"/>
                </a:solidFill>
                <a:sym typeface="+mn-ea"/>
              </a:rPr>
              <a:t>显示最新数据库状态</a:t>
            </a:r>
          </a:p>
          <a:p>
            <a:pPr indent="457200" fontAlgn="auto">
              <a:lnSpc>
                <a:spcPct val="130000"/>
              </a:lnSpc>
            </a:pPr>
            <a:r>
              <a:rPr lang="zh-CN" altLang="en-US" sz="2000" spc="100" dirty="0">
                <a:solidFill>
                  <a:schemeClr val="tx1"/>
                </a:solidFill>
                <a:sym typeface="+mn-ea"/>
              </a:rPr>
              <a:t>关联信息 </a:t>
            </a:r>
            <a:r>
              <a:rPr lang="en-US" altLang="zh-CN" sz="2000" spc="100" dirty="0">
                <a:solidFill>
                  <a:schemeClr val="tx1"/>
                </a:solidFill>
                <a:sym typeface="+mn-ea"/>
              </a:rPr>
              <a:t>- </a:t>
            </a:r>
            <a:r>
              <a:rPr lang="zh-CN" altLang="en-US" sz="2000" spc="100" dirty="0">
                <a:solidFill>
                  <a:schemeClr val="tx1"/>
                </a:solidFill>
                <a:sym typeface="+mn-ea"/>
              </a:rPr>
              <a:t>查看完整的数据关联关系</a:t>
            </a:r>
            <a:endParaRPr lang="zh-CN" altLang="en-US" sz="2000" spc="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254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739265" y="1507490"/>
            <a:ext cx="9295765" cy="4727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/>
              <a:t>学而不厌，诲人不倦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fld id="{E60F2D4F-2241-454B-AF5D-961C997CB3B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6401" y="270627"/>
            <a:ext cx="3275599" cy="615399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项目总结</a:t>
            </a:r>
          </a:p>
        </p:txBody>
      </p:sp>
      <p:sp>
        <p:nvSpPr>
          <p:cNvPr id="6" name="矩形 5"/>
          <p:cNvSpPr/>
          <p:nvPr/>
        </p:nvSpPr>
        <p:spPr>
          <a:xfrm>
            <a:off x="1447515" y="1243254"/>
            <a:ext cx="9295700" cy="47275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sp>
        <p:nvSpPr>
          <p:cNvPr id="8" name="内容占位符 2"/>
          <p:cNvSpPr txBox="1"/>
          <p:nvPr/>
        </p:nvSpPr>
        <p:spPr>
          <a:xfrm>
            <a:off x="1703705" y="1341120"/>
            <a:ext cx="4177141" cy="41419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400" b="1" dirty="0"/>
              <a:t>项目成果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>
              <a:lnSpc>
                <a:spcPct val="130000"/>
              </a:lnSpc>
            </a:pPr>
            <a:r>
              <a:rPr lang="zh-CN" altLang="en-US" sz="2400" dirty="0"/>
              <a:t>完整的植物养护管理生命周期支持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智能化提醒和决策支持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美观易用的图形界面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健全的数据管理和分析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良好的系统性能和稳定性</a:t>
            </a:r>
            <a:endParaRPr lang="en-US" altLang="zh-CN" sz="2400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1739265" y="5604361"/>
            <a:ext cx="8742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0F4BB02F-82DE-3F8C-75CA-79DD33721577}"/>
              </a:ext>
            </a:extLst>
          </p:cNvPr>
          <p:cNvSpPr txBox="1"/>
          <p:nvPr/>
        </p:nvSpPr>
        <p:spPr>
          <a:xfrm>
            <a:off x="5805059" y="1374925"/>
            <a:ext cx="4177141" cy="41419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400" b="1" dirty="0"/>
              <a:t>应用价值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>
              <a:lnSpc>
                <a:spcPct val="130000"/>
              </a:lnSpc>
            </a:pPr>
            <a:r>
              <a:rPr lang="zh-CN" altLang="en-US" sz="2400" dirty="0"/>
              <a:t>帮助植物爱好者科学养护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降低植物养护门槛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促进植物养护知识传播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为智能家居领域提供参考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-16264"/>
            <a:ext cx="12192000" cy="6874264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>
            <a:off x="1" y="-38100"/>
            <a:ext cx="12191999" cy="3467100"/>
          </a:xfrm>
          <a:custGeom>
            <a:avLst/>
            <a:gdLst>
              <a:gd name="connsiteX0" fmla="*/ 0 w 12191999"/>
              <a:gd name="connsiteY0" fmla="*/ 0 h 3467100"/>
              <a:gd name="connsiteX1" fmla="*/ 12191999 w 12191999"/>
              <a:gd name="connsiteY1" fmla="*/ 0 h 3467100"/>
              <a:gd name="connsiteX2" fmla="*/ 12191999 w 12191999"/>
              <a:gd name="connsiteY2" fmla="*/ 2387141 h 3467100"/>
              <a:gd name="connsiteX3" fmla="*/ 11986303 w 12191999"/>
              <a:gd name="connsiteY3" fmla="*/ 2471405 h 3467100"/>
              <a:gd name="connsiteX4" fmla="*/ 6121399 w 12191999"/>
              <a:gd name="connsiteY4" fmla="*/ 3467100 h 3467100"/>
              <a:gd name="connsiteX5" fmla="*/ 256496 w 12191999"/>
              <a:gd name="connsiteY5" fmla="*/ 2471405 h 3467100"/>
              <a:gd name="connsiteX6" fmla="*/ 0 w 12191999"/>
              <a:gd name="connsiteY6" fmla="*/ 2366332 h 346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467100">
                <a:moveTo>
                  <a:pt x="0" y="0"/>
                </a:moveTo>
                <a:lnTo>
                  <a:pt x="12191999" y="0"/>
                </a:lnTo>
                <a:lnTo>
                  <a:pt x="12191999" y="2387141"/>
                </a:lnTo>
                <a:lnTo>
                  <a:pt x="11986303" y="2471405"/>
                </a:lnTo>
                <a:cubicBezTo>
                  <a:pt x="10392508" y="3093437"/>
                  <a:pt x="8349226" y="3467100"/>
                  <a:pt x="6121399" y="3467100"/>
                </a:cubicBezTo>
                <a:cubicBezTo>
                  <a:pt x="3893572" y="3467100"/>
                  <a:pt x="1850290" y="3093437"/>
                  <a:pt x="256496" y="2471405"/>
                </a:cubicBezTo>
                <a:lnTo>
                  <a:pt x="0" y="2366332"/>
                </a:lnTo>
                <a:close/>
              </a:path>
            </a:pathLst>
          </a:custGeom>
          <a:solidFill>
            <a:srgbClr val="B249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0" y="-38100"/>
            <a:ext cx="12192000" cy="3241580"/>
          </a:xfrm>
          <a:custGeom>
            <a:avLst/>
            <a:gdLst>
              <a:gd name="connsiteX0" fmla="*/ 0 w 12192000"/>
              <a:gd name="connsiteY0" fmla="*/ 0 h 3906851"/>
              <a:gd name="connsiteX1" fmla="*/ 12192000 w 12192000"/>
              <a:gd name="connsiteY1" fmla="*/ 0 h 3906851"/>
              <a:gd name="connsiteX2" fmla="*/ 12192000 w 12192000"/>
              <a:gd name="connsiteY2" fmla="*/ 3011223 h 3906851"/>
              <a:gd name="connsiteX3" fmla="*/ 11986304 w 12192000"/>
              <a:gd name="connsiteY3" fmla="*/ 3081105 h 3906851"/>
              <a:gd name="connsiteX4" fmla="*/ 6121400 w 12192000"/>
              <a:gd name="connsiteY4" fmla="*/ 3906851 h 3906851"/>
              <a:gd name="connsiteX5" fmla="*/ 256497 w 12192000"/>
              <a:gd name="connsiteY5" fmla="*/ 3081105 h 3906851"/>
              <a:gd name="connsiteX6" fmla="*/ 0 w 12192000"/>
              <a:gd name="connsiteY6" fmla="*/ 2993965 h 3906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906851">
                <a:moveTo>
                  <a:pt x="0" y="0"/>
                </a:moveTo>
                <a:lnTo>
                  <a:pt x="12192000" y="0"/>
                </a:lnTo>
                <a:lnTo>
                  <a:pt x="12192000" y="3011223"/>
                </a:lnTo>
                <a:lnTo>
                  <a:pt x="11986304" y="3081105"/>
                </a:lnTo>
                <a:cubicBezTo>
                  <a:pt x="10392509" y="3596966"/>
                  <a:pt x="8349227" y="3906851"/>
                  <a:pt x="6121400" y="3906851"/>
                </a:cubicBezTo>
                <a:cubicBezTo>
                  <a:pt x="3893573" y="3906851"/>
                  <a:pt x="1850291" y="3596966"/>
                  <a:pt x="256497" y="3081105"/>
                </a:cubicBezTo>
                <a:lnTo>
                  <a:pt x="0" y="2993965"/>
                </a:lnTo>
                <a:close/>
              </a:path>
            </a:pathLst>
          </a:custGeom>
        </p:spPr>
      </p:pic>
      <p:sp>
        <p:nvSpPr>
          <p:cNvPr id="27" name="任意多边形 26"/>
          <p:cNvSpPr/>
          <p:nvPr/>
        </p:nvSpPr>
        <p:spPr>
          <a:xfrm>
            <a:off x="0" y="-38101"/>
            <a:ext cx="12192000" cy="3241579"/>
          </a:xfrm>
          <a:custGeom>
            <a:avLst/>
            <a:gdLst>
              <a:gd name="connsiteX0" fmla="*/ 0 w 12192000"/>
              <a:gd name="connsiteY0" fmla="*/ 0 h 3797300"/>
              <a:gd name="connsiteX1" fmla="*/ 12192000 w 12192000"/>
              <a:gd name="connsiteY1" fmla="*/ 0 h 3797300"/>
              <a:gd name="connsiteX2" fmla="*/ 12192000 w 12192000"/>
              <a:gd name="connsiteY2" fmla="*/ 2926786 h 3797300"/>
              <a:gd name="connsiteX3" fmla="*/ 11986304 w 12192000"/>
              <a:gd name="connsiteY3" fmla="*/ 2994708 h 3797300"/>
              <a:gd name="connsiteX4" fmla="*/ 6121400 w 12192000"/>
              <a:gd name="connsiteY4" fmla="*/ 3797300 h 3797300"/>
              <a:gd name="connsiteX5" fmla="*/ 256497 w 12192000"/>
              <a:gd name="connsiteY5" fmla="*/ 2994708 h 3797300"/>
              <a:gd name="connsiteX6" fmla="*/ 0 w 12192000"/>
              <a:gd name="connsiteY6" fmla="*/ 2910012 h 379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797300">
                <a:moveTo>
                  <a:pt x="0" y="0"/>
                </a:moveTo>
                <a:lnTo>
                  <a:pt x="12192000" y="0"/>
                </a:lnTo>
                <a:lnTo>
                  <a:pt x="12192000" y="2926786"/>
                </a:lnTo>
                <a:lnTo>
                  <a:pt x="11986304" y="2994708"/>
                </a:lnTo>
                <a:cubicBezTo>
                  <a:pt x="10392509" y="3496104"/>
                  <a:pt x="8349227" y="3797300"/>
                  <a:pt x="6121400" y="3797300"/>
                </a:cubicBezTo>
                <a:cubicBezTo>
                  <a:pt x="3893573" y="3797300"/>
                  <a:pt x="1850291" y="3496104"/>
                  <a:pt x="256497" y="2994708"/>
                </a:cubicBezTo>
                <a:lnTo>
                  <a:pt x="0" y="2910012"/>
                </a:lnTo>
                <a:close/>
              </a:path>
            </a:pathLst>
          </a:custGeom>
          <a:gradFill>
            <a:gsLst>
              <a:gs pos="41000">
                <a:schemeClr val="bg1">
                  <a:alpha val="57000"/>
                </a:schemeClr>
              </a:gs>
              <a:gs pos="0">
                <a:schemeClr val="bg1">
                  <a:alpha val="87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23269" y="4221000"/>
            <a:ext cx="9944781" cy="1050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800" b="1" dirty="0">
                <a:solidFill>
                  <a:schemeClr val="accent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请老师批评指正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245047" y="2760751"/>
            <a:ext cx="1701906" cy="1701906"/>
            <a:chOff x="5245047" y="2760751"/>
            <a:chExt cx="1701906" cy="1701906"/>
          </a:xfrm>
        </p:grpSpPr>
        <p:sp>
          <p:nvSpPr>
            <p:cNvPr id="21" name="椭圆 20"/>
            <p:cNvSpPr/>
            <p:nvPr/>
          </p:nvSpPr>
          <p:spPr>
            <a:xfrm>
              <a:off x="5245047" y="2760751"/>
              <a:ext cx="1701906" cy="17019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 cstate="email"/>
            <a:srcRect/>
            <a:stretch>
              <a:fillRect/>
            </a:stretch>
          </p:blipFill>
          <p:spPr>
            <a:xfrm>
              <a:off x="5282163" y="2791359"/>
              <a:ext cx="1602274" cy="1504658"/>
            </a:xfrm>
            <a:custGeom>
              <a:avLst/>
              <a:gdLst>
                <a:gd name="connsiteX0" fmla="*/ 0 w 1602274"/>
                <a:gd name="connsiteY0" fmla="*/ 0 h 1504658"/>
                <a:gd name="connsiteX1" fmla="*/ 1602274 w 1602274"/>
                <a:gd name="connsiteY1" fmla="*/ 0 h 1504658"/>
                <a:gd name="connsiteX2" fmla="*/ 1602274 w 1602274"/>
                <a:gd name="connsiteY2" fmla="*/ 1504658 h 1504658"/>
                <a:gd name="connsiteX3" fmla="*/ 0 w 1602274"/>
                <a:gd name="connsiteY3" fmla="*/ 1504658 h 1504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2274" h="1504658">
                  <a:moveTo>
                    <a:pt x="0" y="0"/>
                  </a:moveTo>
                  <a:lnTo>
                    <a:pt x="1602274" y="0"/>
                  </a:lnTo>
                  <a:lnTo>
                    <a:pt x="1602274" y="1504658"/>
                  </a:lnTo>
                  <a:lnTo>
                    <a:pt x="0" y="1504658"/>
                  </a:lnTo>
                  <a:close/>
                </a:path>
              </a:pathLst>
            </a:custGeom>
          </p:spPr>
        </p:pic>
      </p:grpSp>
      <p:sp>
        <p:nvSpPr>
          <p:cNvPr id="15" name="文本框 14"/>
          <p:cNvSpPr txBox="1"/>
          <p:nvPr/>
        </p:nvSpPr>
        <p:spPr>
          <a:xfrm>
            <a:off x="1372493" y="5802267"/>
            <a:ext cx="2120900" cy="417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汇报人：秦宁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088513" y="5799745"/>
            <a:ext cx="2482969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导师：马飞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399946" y="5805460"/>
            <a:ext cx="2367129" cy="417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日期：</a:t>
            </a:r>
            <a:r>
              <a:rPr lang="en-US" altLang="zh-CN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2025.11.23</a:t>
            </a:r>
            <a:endParaRPr lang="zh-CN" altLang="en-US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70527559055122,&quot;left&quot;:42.37425196850394,&quot;top&quot;:314.5644881889764,&quot;width&quot;:869.569606299212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70527559055122,&quot;left&quot;:42.37425196850394,&quot;top&quot;:314.5644881889764,&quot;width&quot;:869.569606299212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70527559055122,&quot;left&quot;:42.37425196850394,&quot;top&quot;:314.5644881889764,&quot;width&quot;:869.569606299212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70527559055122,&quot;left&quot;:42.37425196850394,&quot;top&quot;:314.5644881889764,&quot;width&quot;:869.569606299212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70527559055122,&quot;left&quot;:42.37425196850394,&quot;top&quot;:314.5644881889764,&quot;width&quot;:869.569606299212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70527559055122,&quot;left&quot;:42.37425196850394,&quot;top&quot;:314.5644881889764,&quot;width&quot;:869.569606299212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70527559055122,&quot;left&quot;:42.37425196850394,&quot;top&quot;:314.5644881889764,&quot;width&quot;:869.569606299212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70527559055122,&quot;left&quot;:42.37425196850394,&quot;top&quot;:314.5644881889764,&quot;width&quot;:869.569606299212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70527559055122,&quot;left&quot;:42.37425196850394,&quot;top&quot;:314.5644881889764,&quot;width&quot;:869.569606299212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70527559055122,&quot;left&quot;:42.37425196850394,&quot;top&quot;:314.5644881889764,&quot;width&quot;:869.569606299212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70527559055122,&quot;left&quot;:42.37425196850394,&quot;top&quot;:314.5644881889764,&quot;width&quot;:869.569606299212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70527559055122,&quot;left&quot;:42.37425196850394,&quot;top&quot;:314.5644881889764,&quot;width&quot;:869.569606299212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40735;#140735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5881102362205,&quot;left&quot;:474.33070866141736,&quot;top&quot;:115.25724409448819,&quot;width&quot;:434.6692913385826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.35,&quot;left&quot;:88.8,&quot;top&quot;:150.95,&quot;width&quot;:356.6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.35,&quot;left&quot;:88.8,&quot;top&quot;:150.95,&quot;width&quot;:356.6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.35,&quot;left&quot;:88.8,&quot;top&quot;:150.95,&quot;width&quot;:356.6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.35,&quot;left&quot;:88.8,&quot;top&quot;:150.95,&quot;width&quot;:356.6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.35,&quot;left&quot;:88.8,&quot;top&quot;:150.95,&quot;width&quot;:356.6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.35,&quot;left&quot;:88.8,&quot;top&quot;:150.95,&quot;width&quot;:356.6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678</Words>
  <Application>Microsoft Office PowerPoint</Application>
  <PresentationFormat>宽屏</PresentationFormat>
  <Paragraphs>153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等线 Light</vt:lpstr>
      <vt:lpstr>思源黑体 CN Heavy</vt:lpstr>
      <vt:lpstr>思源黑体 CN Light</vt:lpstr>
      <vt:lpstr>思源宋体 CN</vt:lpstr>
      <vt:lpstr>宋体</vt:lpstr>
      <vt:lpstr>Arial</vt:lpstr>
      <vt:lpstr>Office 主题​​</vt:lpstr>
      <vt:lpstr>PowerPoint 演示文稿</vt:lpstr>
      <vt:lpstr>PowerPoint 演示文稿</vt:lpstr>
      <vt:lpstr>项目背景</vt:lpstr>
      <vt:lpstr>架构概览</vt:lpstr>
      <vt:lpstr>EER Diagram</vt:lpstr>
      <vt:lpstr>技术栈</vt:lpstr>
      <vt:lpstr>功能介绍</vt:lpstr>
      <vt:lpstr>功能介绍</vt:lpstr>
      <vt:lpstr>项目总结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 Mr</dc:creator>
  <cp:lastModifiedBy>Q Mr</cp:lastModifiedBy>
  <cp:revision>5</cp:revision>
  <dcterms:created xsi:type="dcterms:W3CDTF">2025-11-23T05:24:34Z</dcterms:created>
  <dcterms:modified xsi:type="dcterms:W3CDTF">2025-11-23T08:03:25Z</dcterms:modified>
</cp:coreProperties>
</file>